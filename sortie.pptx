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embeddedFontLst>
    <p:embeddedFont>
      <p:font typeface="Playfair Display"/>
      <p:regular r:id="rIdFont1000"/>
      <p:bold r:id="rIdFont1001"/>
      <p:italic r:id="rIdFont1002"/>
      <p:boldItalic r:id="rIdFont1003"/>
    </p:embeddedFont>
    <p:embeddedFont>
      <p:font typeface="EB Garamond"/>
      <p:regular r:id="rIdFont1004"/>
      <p:bold r:id="rIdFont1005"/>
      <p:italic r:id="rIdFont1006"/>
      <p:boldItalic r:id="rIdFont100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Font1000" Type="http://schemas.openxmlformats.org/officeDocument/2006/relationships/font" Target="fonts/font1.fntdata"/><Relationship Id="rIdFont1001" Type="http://schemas.openxmlformats.org/officeDocument/2006/relationships/font" Target="fonts/font2.fntdata"/><Relationship Id="rIdFont1002" Type="http://schemas.openxmlformats.org/officeDocument/2006/relationships/font" Target="fonts/font3.fntdata"/><Relationship Id="rIdFont1003" Type="http://schemas.openxmlformats.org/officeDocument/2006/relationships/font" Target="fonts/font4.fntdata"/><Relationship Id="rIdFont1004" Type="http://schemas.openxmlformats.org/officeDocument/2006/relationships/font" Target="fonts/font5.fntdata"/><Relationship Id="rIdFont1005" Type="http://schemas.openxmlformats.org/officeDocument/2006/relationships/font" Target="fonts/font6.fntdata"/><Relationship Id="rIdFont1006" Type="http://schemas.openxmlformats.org/officeDocument/2006/relationships/font" Target="fonts/font7.fntdata"/><Relationship Id="rIdFont1007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9100" y="419100"/>
            <a:ext cx="11353800" cy="6019800"/>
          </a:xfrm>
          <a:prstGeom prst="rect">
            <a:avLst/>
          </a:prstGeom>
          <a:noFill/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5300" y="495300"/>
            <a:ext cx="11201400" cy="5867400"/>
          </a:xfrm>
          <a:prstGeom prst="rect">
            <a:avLst/>
          </a:prstGeom>
          <a:noFill/>
          <a:ln w="9525">
            <a:solidFill>
              <a:srgbClr val="E4C9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isteria.png"/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419100" y="419100"/>
            <a:ext cx="1763486" cy="3429000"/>
          </a:xfrm>
          <a:prstGeom prst="rect">
            <a:avLst/>
          </a:prstGeom>
          <a:effectLst/>
        </p:spPr>
      </p:pic>
      <p:pic>
        <p:nvPicPr>
          <p:cNvPr id="6" name="Picture 5" descr="wisteria_r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10010775" y="419100"/>
            <a:ext cx="1763486" cy="342900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1333500" y="2209800"/>
            <a:ext cx="9525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400">
                <a:solidFill>
                  <a:srgbClr val="A07C1F"/>
                </a:solidFill>
                <a:latin typeface="EB Garamond"/>
              </a:rPr>
              <a:t>MUSEE DE LA VIE ROMANTIQUE · PARIS 9E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2457450"/>
            <a:ext cx="9525000" cy="1047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900" b="1" i="0">
                <a:solidFill>
                  <a:srgbClr val="3A3630"/>
                </a:solidFill>
                <a:latin typeface="Playfair Display"/>
              </a:rPr>
              <a:t>Love Stories </a:t>
            </a:r>
            <a:r>
              <a:rPr sz="6900" b="1" i="1">
                <a:solidFill>
                  <a:srgbClr val="3A3630"/>
                </a:solidFill>
                <a:latin typeface="Playfair Display"/>
              </a:rPr>
              <a:t>IRL</a:t>
            </a:r>
          </a:p>
        </p:txBody>
      </p:sp>
      <p:sp>
        <p:nvSpPr>
          <p:cNvPr id="9" name="Rectangle 8"/>
          <p:cNvSpPr/>
          <p:nvPr/>
        </p:nvSpPr>
        <p:spPr>
          <a:xfrm>
            <a:off x="4095750" y="3781425"/>
            <a:ext cx="176212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34125" y="3781425"/>
            <a:ext cx="176212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s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225" y="3676650"/>
            <a:ext cx="209550" cy="209550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1333500" y="4038600"/>
            <a:ext cx="952500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75" b="0" i="1">
                <a:solidFill>
                  <a:srgbClr val="6E93AE"/>
                </a:solidFill>
                <a:latin typeface="EB Garamond"/>
              </a:rPr>
              <a:t>Projet BC-5 · Conception de l'experience client, option e-business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3500" y="4476750"/>
            <a:ext cx="952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0" i="1">
                <a:solidFill>
                  <a:srgbClr val="6B625A"/>
                </a:solidFill>
                <a:latin typeface="EB Garamond"/>
              </a:rPr>
              <a:t>Cher Aimable Lecteur, voici un musee adore du Tout-Paris, et ignore du numerique.</a:t>
            </a:r>
          </a:p>
        </p:txBody>
      </p:sp>
      <p:pic>
        <p:nvPicPr>
          <p:cNvPr id="14" name="Picture 13" descr="seal_mv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5334000"/>
            <a:ext cx="914400" cy="914400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0" y="6305550"/>
            <a:ext cx="12192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 spc="200">
                <a:solidFill>
                  <a:srgbClr val="6B625A"/>
                </a:solidFill>
                <a:latin typeface="EB Garamond"/>
              </a:rPr>
              <a:t>ESTELLE CASTEROT · ANNEE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steria_soft.png"/>
          <p:cNvPicPr>
            <a:picLocks noChangeAspect="1"/>
          </p:cNvPicPr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10439400" y="-1143000"/>
            <a:ext cx="1469571" cy="285750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0" y="704850"/>
            <a:ext cx="12192000" cy="495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300" b="1" i="0">
                <a:solidFill>
                  <a:srgbClr val="3A3630"/>
                </a:solidFill>
                <a:latin typeface="Playfair Display"/>
              </a:rPr>
              <a:t>Sommaire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667250" y="1362075"/>
            <a:ext cx="119062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334125" y="1362075"/>
            <a:ext cx="119062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s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225" y="1257300"/>
            <a:ext cx="209550" cy="209550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1428750" y="2038350"/>
            <a:ext cx="8382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C9A227"/>
                </a:solidFill>
                <a:latin typeface="Playfair Display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5550" y="2076450"/>
            <a:ext cx="781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7" b="1" i="0" spc="300">
                <a:solidFill>
                  <a:srgbClr val="A07C1F"/>
                </a:solidFill>
                <a:latin typeface="EB Garamond"/>
              </a:rPr>
              <a:t>C5.1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5550" y="2247900"/>
            <a:ext cx="7810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3A3630"/>
                </a:solidFill>
                <a:latin typeface="Playfair Display"/>
              </a:rPr>
              <a:t>Benchmark sectoriel</a:t>
            </a:r>
          </a:p>
        </p:txBody>
      </p:sp>
      <p:pic>
        <p:nvPicPr>
          <p:cNvPr id="11" name="Picture 10" descr="ros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2219325"/>
            <a:ext cx="171450" cy="171450"/>
          </a:xfrm>
          <a:prstGeom prst="rect">
            <a:avLst/>
          </a:prstGeom>
          <a:effectLst/>
        </p:spPr>
      </p:pic>
      <p:sp>
        <p:nvSpPr>
          <p:cNvPr id="12" name="Rectangle 11"/>
          <p:cNvSpPr/>
          <p:nvPr/>
        </p:nvSpPr>
        <p:spPr>
          <a:xfrm>
            <a:off x="1428750" y="2743200"/>
            <a:ext cx="9334500" cy="9525"/>
          </a:xfrm>
          <a:prstGeom prst="rect">
            <a:avLst/>
          </a:prstGeom>
          <a:solidFill>
            <a:srgbClr val="E4C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28750" y="2914650"/>
            <a:ext cx="8382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C9A227"/>
                </a:solidFill>
                <a:latin typeface="Playfair Display"/>
              </a:rPr>
              <a:t>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5550" y="2952750"/>
            <a:ext cx="781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7" b="1" i="0" spc="300">
                <a:solidFill>
                  <a:srgbClr val="A07C1F"/>
                </a:solidFill>
                <a:latin typeface="EB Garamond"/>
              </a:rPr>
              <a:t>C5.2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95550" y="3124200"/>
            <a:ext cx="7810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3A3630"/>
                </a:solidFill>
                <a:latin typeface="Playfair Display"/>
              </a:rPr>
              <a:t>Tableau de bord des donnees</a:t>
            </a:r>
          </a:p>
        </p:txBody>
      </p:sp>
      <p:pic>
        <p:nvPicPr>
          <p:cNvPr id="16" name="Picture 15" descr="ros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3095625"/>
            <a:ext cx="171450" cy="171450"/>
          </a:xfrm>
          <a:prstGeom prst="rect">
            <a:avLst/>
          </a:prstGeom>
          <a:effectLst/>
        </p:spPr>
      </p:pic>
      <p:sp>
        <p:nvSpPr>
          <p:cNvPr id="17" name="Rectangle 16"/>
          <p:cNvSpPr/>
          <p:nvPr/>
        </p:nvSpPr>
        <p:spPr>
          <a:xfrm>
            <a:off x="1428750" y="3619500"/>
            <a:ext cx="9334500" cy="9525"/>
          </a:xfrm>
          <a:prstGeom prst="rect">
            <a:avLst/>
          </a:prstGeom>
          <a:solidFill>
            <a:srgbClr val="E4C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28750" y="3790950"/>
            <a:ext cx="8382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C9A227"/>
                </a:solidFill>
                <a:latin typeface="Playfair Display"/>
              </a:rPr>
              <a:t>III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5550" y="3829050"/>
            <a:ext cx="781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7" b="1" i="0" spc="300">
                <a:solidFill>
                  <a:srgbClr val="A07C1F"/>
                </a:solidFill>
                <a:latin typeface="EB Garamond"/>
              </a:rPr>
              <a:t>C5.4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5550" y="4000500"/>
            <a:ext cx="7810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3A3630"/>
                </a:solidFill>
                <a:latin typeface="Playfair Display"/>
              </a:rPr>
              <a:t>Plan marketing operationnel</a:t>
            </a:r>
          </a:p>
        </p:txBody>
      </p:sp>
      <p:pic>
        <p:nvPicPr>
          <p:cNvPr id="21" name="Picture 20" descr="ros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3971925"/>
            <a:ext cx="171450" cy="171450"/>
          </a:xfrm>
          <a:prstGeom prst="rect">
            <a:avLst/>
          </a:prstGeom>
          <a:effectLst/>
        </p:spPr>
      </p:pic>
      <p:sp>
        <p:nvSpPr>
          <p:cNvPr id="22" name="Rectangle 21"/>
          <p:cNvSpPr/>
          <p:nvPr/>
        </p:nvSpPr>
        <p:spPr>
          <a:xfrm>
            <a:off x="1428750" y="4495800"/>
            <a:ext cx="9334500" cy="9525"/>
          </a:xfrm>
          <a:prstGeom prst="rect">
            <a:avLst/>
          </a:prstGeom>
          <a:solidFill>
            <a:srgbClr val="E4C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28750" y="4667250"/>
            <a:ext cx="8382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C9A227"/>
                </a:solidFill>
                <a:latin typeface="Playfair Display"/>
              </a:rPr>
              <a:t>IV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95550" y="4705350"/>
            <a:ext cx="781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7" b="1" i="0" spc="300">
                <a:solidFill>
                  <a:srgbClr val="A07C1F"/>
                </a:solidFill>
                <a:latin typeface="EB Garamond"/>
              </a:rPr>
              <a:t>C5.6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95550" y="4876800"/>
            <a:ext cx="7810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3A3630"/>
                </a:solidFill>
                <a:latin typeface="Playfair Display"/>
              </a:rPr>
              <a:t>Leviers digitaux</a:t>
            </a:r>
          </a:p>
        </p:txBody>
      </p:sp>
      <p:pic>
        <p:nvPicPr>
          <p:cNvPr id="26" name="Picture 25" descr="ros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4848225"/>
            <a:ext cx="171450" cy="171450"/>
          </a:xfrm>
          <a:prstGeom prst="rect">
            <a:avLst/>
          </a:prstGeom>
          <a:effectLst/>
        </p:spPr>
      </p:pic>
      <p:sp>
        <p:nvSpPr>
          <p:cNvPr id="27" name="Rectangle 26"/>
          <p:cNvSpPr/>
          <p:nvPr/>
        </p:nvSpPr>
        <p:spPr>
          <a:xfrm>
            <a:off x="1428750" y="5372100"/>
            <a:ext cx="9334500" cy="9525"/>
          </a:xfrm>
          <a:prstGeom prst="rect">
            <a:avLst/>
          </a:prstGeom>
          <a:solidFill>
            <a:srgbClr val="E4C9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28750" y="5543550"/>
            <a:ext cx="838200" cy="533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C9A227"/>
                </a:solidFill>
                <a:latin typeface="Playfair Display"/>
              </a:rPr>
              <a:t>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95550" y="5581650"/>
            <a:ext cx="7810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7" b="1" i="0" spc="300">
                <a:solidFill>
                  <a:srgbClr val="A07C1F"/>
                </a:solidFill>
                <a:latin typeface="EB Garamond"/>
              </a:rPr>
              <a:t>C5.8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95550" y="5753100"/>
            <a:ext cx="78105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50" b="1" i="0">
                <a:solidFill>
                  <a:srgbClr val="3A3630"/>
                </a:solidFill>
                <a:latin typeface="Playfair Display"/>
              </a:rPr>
              <a:t>Campagne e-mailing</a:t>
            </a:r>
          </a:p>
        </p:txBody>
      </p:sp>
      <p:pic>
        <p:nvPicPr>
          <p:cNvPr id="31" name="Picture 30" descr="ros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5724525"/>
            <a:ext cx="171450" cy="171450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857250" y="6534150"/>
            <a:ext cx="476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7" b="0" i="1" spc="100">
                <a:solidFill>
                  <a:srgbClr val="6B625A"/>
                </a:solidFill>
                <a:latin typeface="EB Garamond"/>
              </a:rPr>
              <a:t>Musee de la Vie Romantique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9750" y="65341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37" b="0" i="0" spc="200">
                <a:solidFill>
                  <a:srgbClr val="A07C1F"/>
                </a:solidFill>
                <a:latin typeface="EB Garamond"/>
              </a:rPr>
              <a:t>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steria_r.png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9601200" y="0"/>
            <a:ext cx="2155371" cy="4191000"/>
          </a:xfrm>
          <a:prstGeom prst="rect">
            <a:avLst/>
          </a:prstGeom>
          <a:effectLst/>
        </p:spPr>
      </p:pic>
      <p:pic>
        <p:nvPicPr>
          <p:cNvPr id="4" name="Picture 3" descr="wisteria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85750" y="3952875"/>
            <a:ext cx="1763486" cy="3429000"/>
          </a:xfrm>
          <a:prstGeom prst="rect">
            <a:avLst/>
          </a:prstGeom>
          <a:effectLst/>
        </p:spPr>
      </p:pic>
      <p:pic>
        <p:nvPicPr>
          <p:cNvPr id="5" name="Picture 4" descr="filig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81000"/>
            <a:ext cx="1143000" cy="1143000"/>
          </a:xfrm>
          <a:prstGeom prst="rect">
            <a:avLst/>
          </a:prstGeom>
          <a:effectLst/>
        </p:spPr>
      </p:pic>
      <p:pic>
        <p:nvPicPr>
          <p:cNvPr id="6" name="Picture 5" descr="filig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0668000" y="5334000"/>
            <a:ext cx="1143000" cy="114300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0" y="1428750"/>
            <a:ext cx="1219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0" b="1" i="0">
                <a:solidFill>
                  <a:srgbClr val="C9A227"/>
                </a:solidFill>
                <a:latin typeface="Playfair Display"/>
              </a:rPr>
              <a:t>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543300"/>
            <a:ext cx="12192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300">
                <a:solidFill>
                  <a:srgbClr val="6E93AE"/>
                </a:solidFill>
                <a:latin typeface="EB Garamond"/>
              </a:rPr>
              <a:t>C5.1 · ANALYSE STRATEGIQUE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790950"/>
            <a:ext cx="12192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3A3630"/>
                </a:solidFill>
                <a:latin typeface="Playfair Display"/>
              </a:rPr>
              <a:t>Benchmark sectoriel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1500" y="4733925"/>
            <a:ext cx="147637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4125" y="4733925"/>
            <a:ext cx="147637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oset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225" y="4629150"/>
            <a:ext cx="209550" cy="209550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1905000" y="4953000"/>
            <a:ext cx="838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6B625A"/>
                </a:solidFill>
                <a:latin typeface="EB Garamond"/>
              </a:rPr>
              <a:t>Cher Aimable Lecteur, le retard se mesure, et il se rattrape.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steria_soft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334625" y="3714750"/>
            <a:ext cx="1665514" cy="323850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857250" y="876300"/>
            <a:ext cx="1047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 spc="400">
                <a:solidFill>
                  <a:srgbClr val="A07C1F"/>
                </a:solidFill>
                <a:latin typeface="EB Garamond"/>
              </a:rPr>
              <a:t>C5.1 · BENCHMARK SECTORIEL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049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0" b="1" i="0">
                <a:solidFill>
                  <a:srgbClr val="3A3630"/>
                </a:solidFill>
                <a:latin typeface="Playfair Display"/>
              </a:rPr>
              <a:t>Reperes de marche</a:t>
            </a:r>
          </a:p>
        </p:txBody>
      </p:sp>
      <p:pic>
        <p:nvPicPr>
          <p:cNvPr id="6" name="Picture 5" descr="ros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90700"/>
            <a:ext cx="209550" cy="209550"/>
          </a:xfrm>
          <a:prstGeom prst="rect">
            <a:avLst/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1181100" y="1838325"/>
            <a:ext cx="1015365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857500"/>
            <a:ext cx="10477500" cy="2057400"/>
          </a:xfrm>
          <a:prstGeom prst="rect">
            <a:avLst/>
          </a:prstGeom>
          <a:solidFill>
            <a:srgbClr val="FBF8F1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3257550"/>
            <a:ext cx="2619375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0" b="1" i="0">
                <a:solidFill>
                  <a:srgbClr val="C9A227"/>
                </a:solidFill>
                <a:latin typeface="Playfair Display"/>
              </a:rPr>
              <a:t>8,7 M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76438" y="4019550"/>
            <a:ext cx="38100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9650" y="4171950"/>
            <a:ext cx="23145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75" b="0" i="0" spc="100">
                <a:solidFill>
                  <a:srgbClr val="3A3630"/>
                </a:solidFill>
                <a:latin typeface="EB Garamond"/>
              </a:rPr>
              <a:t>visiteurs / an
Louvre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6625" y="3143250"/>
            <a:ext cx="12700" cy="14859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6625" y="3257550"/>
            <a:ext cx="2619375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0" b="1" i="0">
                <a:solidFill>
                  <a:srgbClr val="C9A227"/>
                </a:solidFill>
                <a:latin typeface="Playfair Display"/>
              </a:rPr>
              <a:t>3,7 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5812" y="4019550"/>
            <a:ext cx="38100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9025" y="4171950"/>
            <a:ext cx="23145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75" b="0" i="0" spc="100">
                <a:solidFill>
                  <a:srgbClr val="3A3630"/>
                </a:solidFill>
                <a:latin typeface="EB Garamond"/>
              </a:rPr>
              <a:t>visiteurs / an
Orsay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3143250"/>
            <a:ext cx="12700" cy="14859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0" y="3257550"/>
            <a:ext cx="2619375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0" b="1" i="0">
                <a:solidFill>
                  <a:srgbClr val="C9A227"/>
                </a:solidFill>
                <a:latin typeface="Playfair Display"/>
              </a:rPr>
              <a:t>1,4 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15188" y="4019550"/>
            <a:ext cx="38100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8400" y="4171950"/>
            <a:ext cx="23145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75" b="0" i="0" spc="100">
                <a:solidFill>
                  <a:srgbClr val="3A3630"/>
                </a:solidFill>
                <a:latin typeface="EB Garamond"/>
              </a:rPr>
              <a:t>visiteurs / an
Ateliers Lumieres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5375" y="3143250"/>
            <a:ext cx="12700" cy="14859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5375" y="3257550"/>
            <a:ext cx="2619375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0" b="1" i="0">
                <a:solidFill>
                  <a:srgbClr val="C9A227"/>
                </a:solidFill>
                <a:latin typeface="Playfair Display"/>
              </a:rPr>
              <a:t>+25 %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34562" y="4019550"/>
            <a:ext cx="38100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7775" y="4171950"/>
            <a:ext cx="23145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75" b="0" i="0" spc="100">
                <a:solidFill>
                  <a:srgbClr val="3A3630"/>
                </a:solidFill>
                <a:latin typeface="EB Garamond"/>
              </a:rPr>
              <a:t>visites -30 ans
avec le numerique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6057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0" i="1">
                <a:solidFill>
                  <a:srgbClr val="6B625A"/>
                </a:solidFill>
                <a:latin typeface="EB Garamond"/>
              </a:rPr>
              <a:t>Source : reperes de marche, sources de veille (BC-5, C5.1).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6534150"/>
            <a:ext cx="476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7" b="0" i="1" spc="100">
                <a:solidFill>
                  <a:srgbClr val="6B625A"/>
                </a:solidFill>
                <a:latin typeface="EB Garamond"/>
              </a:rPr>
              <a:t>Musee de la Vie Romantique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9750" y="65341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37" b="0" i="0" spc="200">
                <a:solidFill>
                  <a:srgbClr val="A07C1F"/>
                </a:solidFill>
                <a:latin typeface="EB Garamond"/>
              </a:rPr>
              <a:t>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876300"/>
            <a:ext cx="1047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 spc="400">
                <a:solidFill>
                  <a:srgbClr val="A07C1F"/>
                </a:solidFill>
                <a:latin typeface="EB Garamond"/>
              </a:rPr>
              <a:t>C5.1 · BENCHMARK SECTORIEL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1049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0" b="1" i="0">
                <a:solidFill>
                  <a:srgbClr val="3A3630"/>
                </a:solidFill>
                <a:latin typeface="Playfair Display"/>
              </a:rPr>
              <a:t>Scorecard ponderee</a:t>
            </a:r>
          </a:p>
        </p:txBody>
      </p:sp>
      <p:pic>
        <p:nvPicPr>
          <p:cNvPr id="5" name="Picture 4" descr="ros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790700"/>
            <a:ext cx="209550" cy="209550"/>
          </a:xfrm>
          <a:prstGeom prst="rect">
            <a:avLst/>
          </a:prstGeom>
          <a:effectLst/>
        </p:spPr>
      </p:pic>
      <p:sp>
        <p:nvSpPr>
          <p:cNvPr id="6" name="Rectangle 5"/>
          <p:cNvSpPr/>
          <p:nvPr/>
        </p:nvSpPr>
        <p:spPr>
          <a:xfrm>
            <a:off x="1181100" y="1838325"/>
            <a:ext cx="1015365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476500"/>
            <a:ext cx="1047750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57250" y="2495550"/>
          <a:ext cx="10477500" cy="26479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375302"/>
                <a:gridCol w="1406376"/>
                <a:gridCol w="1476695"/>
                <a:gridCol w="1265738"/>
                <a:gridCol w="1617332"/>
                <a:gridCol w="1336057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CRITERE (POIDS)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VIE ROM.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G. MOREAU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ORSAY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AT. LUMIERES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LOUVRE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Offre digitale (20 %)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2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2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4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4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5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Presence sociale (20 %)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2 / 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2 / 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3 / 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5 / 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5 / 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UX mobile / site (15 %)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2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2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4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4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3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Mediation / immersion (15 %)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3 / 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3 / 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4 / 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5 / 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4 / 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Notoriete / frequentation (15 %)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2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2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4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4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5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Differenciation identitaire (15 %)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5 / 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4 / 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3 / 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3 / 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3 / 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Score pondere global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2,6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2,5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3,7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4,2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4,3 / 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57250" y="2876550"/>
            <a:ext cx="10477500" cy="15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7250" y="5143500"/>
            <a:ext cx="1047750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63246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0" i="1">
                <a:solidFill>
                  <a:srgbClr val="6B625A"/>
                </a:solidFill>
                <a:latin typeface="EB Garamond"/>
              </a:rPr>
              <a:t>Notation 1 a 5, analyse octobre 2025 (BC-5, C5.1).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6534150"/>
            <a:ext cx="476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7" b="0" i="1" spc="100">
                <a:solidFill>
                  <a:srgbClr val="6B625A"/>
                </a:solidFill>
                <a:latin typeface="EB Garamond"/>
              </a:rPr>
              <a:t>Musee de la Vie Romantique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0" y="65341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37" b="0" i="0" spc="200">
                <a:solidFill>
                  <a:srgbClr val="A07C1F"/>
                </a:solidFill>
                <a:latin typeface="EB Garamond"/>
              </a:rPr>
              <a:t>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steria_r.png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9601200" y="0"/>
            <a:ext cx="2155371" cy="4191000"/>
          </a:xfrm>
          <a:prstGeom prst="rect">
            <a:avLst/>
          </a:prstGeom>
          <a:effectLst/>
        </p:spPr>
      </p:pic>
      <p:pic>
        <p:nvPicPr>
          <p:cNvPr id="4" name="Picture 3" descr="wisteria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85750" y="3952875"/>
            <a:ext cx="1763486" cy="3429000"/>
          </a:xfrm>
          <a:prstGeom prst="rect">
            <a:avLst/>
          </a:prstGeom>
          <a:effectLst/>
        </p:spPr>
      </p:pic>
      <p:pic>
        <p:nvPicPr>
          <p:cNvPr id="5" name="Picture 4" descr="filig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81000"/>
            <a:ext cx="1143000" cy="1143000"/>
          </a:xfrm>
          <a:prstGeom prst="rect">
            <a:avLst/>
          </a:prstGeom>
          <a:effectLst/>
        </p:spPr>
      </p:pic>
      <p:pic>
        <p:nvPicPr>
          <p:cNvPr id="6" name="Picture 5" descr="filig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0668000" y="5334000"/>
            <a:ext cx="1143000" cy="114300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0" y="1428750"/>
            <a:ext cx="1219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0" b="1" i="0">
                <a:solidFill>
                  <a:srgbClr val="C9A227"/>
                </a:solidFill>
                <a:latin typeface="Playfair Display"/>
              </a:rPr>
              <a:t>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543300"/>
            <a:ext cx="12192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300">
                <a:solidFill>
                  <a:srgbClr val="6E93AE"/>
                </a:solidFill>
                <a:latin typeface="EB Garamond"/>
              </a:rPr>
              <a:t>C5.2 · PILOTAGE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790950"/>
            <a:ext cx="12192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3A3630"/>
                </a:solidFill>
                <a:latin typeface="Playfair Display"/>
              </a:rPr>
              <a:t>Tableau de bord des donnees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1500" y="4733925"/>
            <a:ext cx="147637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4125" y="4733925"/>
            <a:ext cx="147637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oset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225" y="4629150"/>
            <a:ext cx="209550" cy="209550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1905000" y="4953000"/>
            <a:ext cx="838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6B625A"/>
                </a:solidFill>
                <a:latin typeface="EB Garamond"/>
              </a:rPr>
              <a:t>Des cibles, pas des resultats. Le dispositif ouvre en fevrier 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steria_soft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334625" y="3714750"/>
            <a:ext cx="1665514" cy="323850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857250" y="876300"/>
            <a:ext cx="1047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 spc="400">
                <a:solidFill>
                  <a:srgbClr val="A07C1F"/>
                </a:solidFill>
                <a:latin typeface="EB Garamond"/>
              </a:rPr>
              <a:t>C5.2 · 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049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0" b="1" i="0">
                <a:solidFill>
                  <a:srgbClr val="3A3630"/>
                </a:solidFill>
                <a:latin typeface="Playfair Display"/>
              </a:rPr>
              <a:t>Cibles du dispositif</a:t>
            </a:r>
          </a:p>
        </p:txBody>
      </p:sp>
      <p:pic>
        <p:nvPicPr>
          <p:cNvPr id="6" name="Picture 5" descr="ros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90700"/>
            <a:ext cx="209550" cy="209550"/>
          </a:xfrm>
          <a:prstGeom prst="rect">
            <a:avLst/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1181100" y="1838325"/>
            <a:ext cx="1015365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250" y="2857500"/>
            <a:ext cx="10477500" cy="2057400"/>
          </a:xfrm>
          <a:prstGeom prst="rect">
            <a:avLst/>
          </a:prstGeom>
          <a:solidFill>
            <a:srgbClr val="FBF8F1"/>
          </a:solidFill>
          <a:ln w="127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7250" y="3257550"/>
            <a:ext cx="2619375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0" b="1" i="0">
                <a:solidFill>
                  <a:srgbClr val="C9A227"/>
                </a:solidFill>
                <a:latin typeface="Playfair Display"/>
              </a:rPr>
              <a:t>≈ 2 %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76438" y="4019550"/>
            <a:ext cx="38100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9650" y="4171950"/>
            <a:ext cx="23145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75" b="0" i="0" spc="100">
                <a:solidFill>
                  <a:srgbClr val="3A3630"/>
                </a:solidFill>
                <a:latin typeface="EB Garamond"/>
              </a:rPr>
              <a:t>engagement Instagram
(cible compte)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6625" y="3143250"/>
            <a:ext cx="12700" cy="14859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6625" y="3257550"/>
            <a:ext cx="2619375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0" b="1" i="0">
                <a:solidFill>
                  <a:srgbClr val="C9A227"/>
                </a:solidFill>
                <a:latin typeface="Playfair Display"/>
              </a:rPr>
              <a:t>1 500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95812" y="4019550"/>
            <a:ext cx="38100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9025" y="4171950"/>
            <a:ext cx="23145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75" b="0" i="0" spc="100">
                <a:solidFill>
                  <a:srgbClr val="3A3630"/>
                </a:solidFill>
                <a:latin typeface="EB Garamond"/>
              </a:rPr>
              <a:t>scans QR
par trimestre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3143250"/>
            <a:ext cx="12700" cy="14859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6000" y="3257550"/>
            <a:ext cx="2619375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0" b="1" i="0">
                <a:solidFill>
                  <a:srgbClr val="C9A227"/>
                </a:solidFill>
                <a:latin typeface="Playfair Display"/>
              </a:rPr>
              <a:t>60 %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15188" y="4019550"/>
            <a:ext cx="38100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8400" y="4171950"/>
            <a:ext cx="23145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75" b="0" i="0" spc="100">
                <a:solidFill>
                  <a:srgbClr val="3A3630"/>
                </a:solidFill>
                <a:latin typeface="EB Garamond"/>
              </a:rPr>
              <a:t>ecoute complete
des capsules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15375" y="3143250"/>
            <a:ext cx="12700" cy="14859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5375" y="3257550"/>
            <a:ext cx="2619375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0" b="1" i="0">
                <a:solidFill>
                  <a:srgbClr val="C9A227"/>
                </a:solidFill>
                <a:latin typeface="Playfair Display"/>
              </a:rPr>
              <a:t>300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834562" y="4019550"/>
            <a:ext cx="38100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7775" y="4171950"/>
            <a:ext cx="23145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75" b="0" i="0" spc="100">
                <a:solidFill>
                  <a:srgbClr val="3A3630"/>
                </a:solidFill>
                <a:latin typeface="EB Garamond"/>
              </a:rPr>
              <a:t>posts #AdopteTonRomantique
sur 6 mois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6057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0" i="1">
                <a:solidFill>
                  <a:srgbClr val="6B625A"/>
                </a:solidFill>
                <a:latin typeface="EB Garamond"/>
              </a:rPr>
              <a:t>Projection, dispositif non deploye (BC-5, C5.2).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250" y="6534150"/>
            <a:ext cx="476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7" b="0" i="1" spc="100">
                <a:solidFill>
                  <a:srgbClr val="6B625A"/>
                </a:solidFill>
                <a:latin typeface="EB Garamond"/>
              </a:rPr>
              <a:t>Musee de la Vie Romantique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29750" y="65341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37" b="0" i="0" spc="200">
                <a:solidFill>
                  <a:srgbClr val="A07C1F"/>
                </a:solidFill>
                <a:latin typeface="EB Garamond"/>
              </a:rPr>
              <a:t>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876300"/>
            <a:ext cx="1047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 spc="400">
                <a:solidFill>
                  <a:srgbClr val="A07C1F"/>
                </a:solidFill>
                <a:latin typeface="EB Garamond"/>
              </a:rPr>
              <a:t>C5.2 · TABLEAU DE BORD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1049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0" b="1" i="0">
                <a:solidFill>
                  <a:srgbClr val="3A3630"/>
                </a:solidFill>
                <a:latin typeface="Playfair Display"/>
              </a:rPr>
              <a:t>Indicateurs economiques</a:t>
            </a:r>
          </a:p>
        </p:txBody>
      </p:sp>
      <p:pic>
        <p:nvPicPr>
          <p:cNvPr id="5" name="Picture 4" descr="ros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790700"/>
            <a:ext cx="209550" cy="209550"/>
          </a:xfrm>
          <a:prstGeom prst="rect">
            <a:avLst/>
          </a:prstGeom>
          <a:effectLst/>
        </p:spPr>
      </p:pic>
      <p:sp>
        <p:nvSpPr>
          <p:cNvPr id="6" name="Rectangle 5"/>
          <p:cNvSpPr/>
          <p:nvPr/>
        </p:nvSpPr>
        <p:spPr>
          <a:xfrm>
            <a:off x="1181100" y="1838325"/>
            <a:ext cx="1015365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476500"/>
            <a:ext cx="1047750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57250" y="2495550"/>
          <a:ext cx="10477499" cy="13525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89519"/>
                <a:gridCol w="4701442"/>
                <a:gridCol w="2686538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INDICATEUR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CALCUL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REPERE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Cout par scan QR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4 000 € / 1 500 scans vises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≈ 2,7 € par scan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Cout par lead (quiz)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1 200 € / 2 000 leads vises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≈ 0,6 € par lead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Seuil de rentabilite indirect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21 500 € / panier indirect ≈ 6 €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≈ 3 600 visites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57250" y="2876550"/>
            <a:ext cx="10477500" cy="15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7250" y="3848100"/>
            <a:ext cx="1047750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63246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0" i="1">
                <a:solidFill>
                  <a:srgbClr val="6B625A"/>
                </a:solidFill>
                <a:latin typeface="EB Garamond"/>
              </a:rPr>
              <a:t>Reperes economiques de pilotage (BC-5, C5.2).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6534150"/>
            <a:ext cx="476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7" b="0" i="1" spc="100">
                <a:solidFill>
                  <a:srgbClr val="6B625A"/>
                </a:solidFill>
                <a:latin typeface="EB Garamond"/>
              </a:rPr>
              <a:t>Musee de la Vie Romantique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0" y="65341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37" b="0" i="0" spc="200">
                <a:solidFill>
                  <a:srgbClr val="A07C1F"/>
                </a:solidFill>
                <a:latin typeface="EB Garamond"/>
              </a:rPr>
              <a:t>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steria_r.png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9601200" y="0"/>
            <a:ext cx="2155371" cy="4191000"/>
          </a:xfrm>
          <a:prstGeom prst="rect">
            <a:avLst/>
          </a:prstGeom>
          <a:effectLst/>
        </p:spPr>
      </p:pic>
      <p:pic>
        <p:nvPicPr>
          <p:cNvPr id="4" name="Picture 3" descr="wisteria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85750" y="3952875"/>
            <a:ext cx="1763486" cy="3429000"/>
          </a:xfrm>
          <a:prstGeom prst="rect">
            <a:avLst/>
          </a:prstGeom>
          <a:effectLst/>
        </p:spPr>
      </p:pic>
      <p:pic>
        <p:nvPicPr>
          <p:cNvPr id="5" name="Picture 4" descr="filig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81000"/>
            <a:ext cx="1143000" cy="1143000"/>
          </a:xfrm>
          <a:prstGeom prst="rect">
            <a:avLst/>
          </a:prstGeom>
          <a:effectLst/>
        </p:spPr>
      </p:pic>
      <p:pic>
        <p:nvPicPr>
          <p:cNvPr id="6" name="Picture 5" descr="filig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0668000" y="5334000"/>
            <a:ext cx="1143000" cy="114300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0" y="1428750"/>
            <a:ext cx="1219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0" b="1" i="0">
                <a:solidFill>
                  <a:srgbClr val="C9A227"/>
                </a:solidFill>
                <a:latin typeface="Playfair Display"/>
              </a:rPr>
              <a:t>III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543300"/>
            <a:ext cx="12192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300">
                <a:solidFill>
                  <a:srgbClr val="6E93AE"/>
                </a:solidFill>
                <a:latin typeface="EB Garamond"/>
              </a:rPr>
              <a:t>C5.4 · OPERATIONNEL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790950"/>
            <a:ext cx="12192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3A3630"/>
                </a:solidFill>
                <a:latin typeface="Playfair Display"/>
              </a:rPr>
              <a:t>Plan marketing operationnel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1500" y="4733925"/>
            <a:ext cx="147637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4125" y="4733925"/>
            <a:ext cx="147637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oset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225" y="4629150"/>
            <a:ext cx="209550" cy="209550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1905000" y="4953000"/>
            <a:ext cx="838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6B625A"/>
                </a:solidFill>
                <a:latin typeface="EB Garamond"/>
              </a:rPr>
              <a:t>Cher Aimable Lecteur, 21 500 euros, et nul tapage inutile.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C5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876300"/>
            <a:ext cx="1047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 spc="400">
                <a:solidFill>
                  <a:srgbClr val="E8792B"/>
                </a:solidFill>
                <a:latin typeface="EB Garamond"/>
              </a:rPr>
              <a:t>C5.4 · PLAN MARKETING OPERATIONNEL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1049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0" b="1" i="0">
                <a:solidFill>
                  <a:srgbClr val="3A3630"/>
                </a:solidFill>
                <a:latin typeface="Playfair Display"/>
              </a:rPr>
              <a:t>Budget : 21 500 €</a:t>
            </a:r>
          </a:p>
        </p:txBody>
      </p:sp>
      <p:pic>
        <p:nvPicPr>
          <p:cNvPr id="5" name="Picture 4" descr="ros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790700"/>
            <a:ext cx="209550" cy="209550"/>
          </a:xfrm>
          <a:prstGeom prst="rect">
            <a:avLst/>
          </a:prstGeom>
          <a:effectLst/>
        </p:spPr>
      </p:pic>
      <p:sp>
        <p:nvSpPr>
          <p:cNvPr id="6" name="Rectangle 5"/>
          <p:cNvSpPr/>
          <p:nvPr/>
        </p:nvSpPr>
        <p:spPr>
          <a:xfrm>
            <a:off x="1181100" y="1838325"/>
            <a:ext cx="1015365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857500"/>
            <a:ext cx="10477500" cy="2057400"/>
          </a:xfrm>
          <a:prstGeom prst="rect">
            <a:avLst/>
          </a:prstGeom>
          <a:solidFill>
            <a:srgbClr val="FBF8F1"/>
          </a:solidFill>
          <a:ln w="12700">
            <a:solidFill>
              <a:srgbClr val="E87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7250" y="3257550"/>
            <a:ext cx="2619375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0" b="1" i="0">
                <a:solidFill>
                  <a:srgbClr val="D94F8A"/>
                </a:solidFill>
                <a:latin typeface="Playfair Display"/>
              </a:rPr>
              <a:t>5 500 €</a:t>
            </a:r>
          </a:p>
        </p:txBody>
      </p:sp>
      <p:sp>
        <p:nvSpPr>
          <p:cNvPr id="9" name="Rectangle 8"/>
          <p:cNvSpPr/>
          <p:nvPr/>
        </p:nvSpPr>
        <p:spPr>
          <a:xfrm>
            <a:off x="1976438" y="4019550"/>
            <a:ext cx="381000" cy="127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9650" y="4171950"/>
            <a:ext cx="23145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75" b="0" i="0" spc="100">
                <a:solidFill>
                  <a:srgbClr val="3A3630"/>
                </a:solidFill>
                <a:latin typeface="EB Garamond"/>
              </a:rPr>
              <a:t>creation
de contenus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6625" y="3143250"/>
            <a:ext cx="12700" cy="14859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6625" y="3257550"/>
            <a:ext cx="2619375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0" b="1" i="0">
                <a:solidFill>
                  <a:srgbClr val="D94F8A"/>
                </a:solidFill>
                <a:latin typeface="Playfair Display"/>
              </a:rPr>
              <a:t>4 000 €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95812" y="4019550"/>
            <a:ext cx="381000" cy="127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9025" y="4171950"/>
            <a:ext cx="23145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75" b="0" i="0" spc="100">
                <a:solidFill>
                  <a:srgbClr val="3A3630"/>
                </a:solidFill>
                <a:latin typeface="EB Garamond"/>
              </a:rPr>
              <a:t>signaletique
et QR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0" y="3143250"/>
            <a:ext cx="12700" cy="14859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3257550"/>
            <a:ext cx="2619375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0" b="1" i="0">
                <a:solidFill>
                  <a:srgbClr val="D94F8A"/>
                </a:solidFill>
                <a:latin typeface="Playfair Display"/>
              </a:rPr>
              <a:t>2 000 €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15188" y="4019550"/>
            <a:ext cx="381000" cy="127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8400" y="4171950"/>
            <a:ext cx="23145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75" b="0" i="0" spc="100">
                <a:solidFill>
                  <a:srgbClr val="3A3630"/>
                </a:solidFill>
                <a:latin typeface="EB Garamond"/>
              </a:rPr>
              <a:t>publicite
de lancement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15375" y="3143250"/>
            <a:ext cx="12700" cy="14859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5375" y="3257550"/>
            <a:ext cx="2619375" cy="666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500" b="1" i="0">
                <a:solidFill>
                  <a:srgbClr val="D94F8A"/>
                </a:solidFill>
                <a:latin typeface="Playfair Display"/>
              </a:rPr>
              <a:t>2 000 €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34562" y="4019550"/>
            <a:ext cx="381000" cy="12700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7775" y="4171950"/>
            <a:ext cx="23145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75" b="0" i="0" spc="100">
                <a:solidFill>
                  <a:srgbClr val="3A3630"/>
                </a:solidFill>
                <a:latin typeface="EB Garamond"/>
              </a:rPr>
              <a:t>influence
et partenariats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7250" y="60579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0" i="1">
                <a:solidFill>
                  <a:srgbClr val="6B625A"/>
                </a:solidFill>
                <a:latin typeface="EB Garamond"/>
              </a:rPr>
              <a:t>4 postes sur 9, enveloppe totale 21 500 € (BC-5, C5.4).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7250" y="6534150"/>
            <a:ext cx="476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7" b="0" i="1" spc="100">
                <a:solidFill>
                  <a:srgbClr val="6B625A"/>
                </a:solidFill>
                <a:latin typeface="EB Garamond"/>
              </a:rPr>
              <a:t>Musee de la Vie Romantique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29750" y="65341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37" b="0" i="0" spc="200">
                <a:solidFill>
                  <a:srgbClr val="A07C1F"/>
                </a:solidFill>
                <a:latin typeface="EB Garamon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876300"/>
            <a:ext cx="1047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 spc="400">
                <a:solidFill>
                  <a:srgbClr val="A07C1F"/>
                </a:solidFill>
                <a:latin typeface="EB Garamond"/>
              </a:rPr>
              <a:t>C5.4 · PLAN MARKETING OPERATIONNEL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1049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0" b="1" i="0">
                <a:solidFill>
                  <a:srgbClr val="3A3630"/>
                </a:solidFill>
                <a:latin typeface="Playfair Display"/>
              </a:rPr>
              <a:t>Plan d'actions operationnel</a:t>
            </a:r>
          </a:p>
        </p:txBody>
      </p:sp>
      <p:pic>
        <p:nvPicPr>
          <p:cNvPr id="5" name="Picture 4" descr="ros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790700"/>
            <a:ext cx="209550" cy="209550"/>
          </a:xfrm>
          <a:prstGeom prst="rect">
            <a:avLst/>
          </a:prstGeom>
          <a:effectLst/>
        </p:spPr>
      </p:pic>
      <p:sp>
        <p:nvSpPr>
          <p:cNvPr id="6" name="Rectangle 5"/>
          <p:cNvSpPr/>
          <p:nvPr/>
        </p:nvSpPr>
        <p:spPr>
          <a:xfrm>
            <a:off x="1181100" y="1838325"/>
            <a:ext cx="1015365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476500"/>
            <a:ext cx="1047750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57250" y="2495550"/>
          <a:ext cx="10477500" cy="20002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65887"/>
                <a:gridCol w="3943145"/>
                <a:gridCol w="2591210"/>
                <a:gridCol w="1577258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ETAPE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ACTION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OBJECTIF / KPI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BUDGET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Sensibiliser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Sondages et teasing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Portee +50 %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500 €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Decouvrir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Quiz love story et page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2 000 leads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1 200 €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Donner envie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Reels et ecoles d'art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50 k vues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2 000 €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Vivre la visite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QR codes et capsules audio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1 500 scans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4 000 €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Amplifier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UGC #AdopteTonRomantique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300 posts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2 000 €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57250" y="2876550"/>
            <a:ext cx="10477500" cy="15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7250" y="4495800"/>
            <a:ext cx="1047750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63246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0" i="1">
                <a:solidFill>
                  <a:srgbClr val="6B625A"/>
                </a:solidFill>
                <a:latin typeface="EB Garamond"/>
              </a:rPr>
              <a:t>Plan d'actions sur 12 mois (BC-5, C5.4).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6534150"/>
            <a:ext cx="476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7" b="0" i="1" spc="100">
                <a:solidFill>
                  <a:srgbClr val="6B625A"/>
                </a:solidFill>
                <a:latin typeface="EB Garamond"/>
              </a:rPr>
              <a:t>Musee de la Vie Romantique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0" y="65341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37" b="0" i="0" spc="200">
                <a:solidFill>
                  <a:srgbClr val="A07C1F"/>
                </a:solidFill>
                <a:latin typeface="EB Garamon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steria_r.png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9601200" y="0"/>
            <a:ext cx="2155371" cy="4191000"/>
          </a:xfrm>
          <a:prstGeom prst="rect">
            <a:avLst/>
          </a:prstGeom>
          <a:effectLst/>
        </p:spPr>
      </p:pic>
      <p:pic>
        <p:nvPicPr>
          <p:cNvPr id="4" name="Picture 3" descr="wisteria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85750" y="3952875"/>
            <a:ext cx="1763486" cy="3429000"/>
          </a:xfrm>
          <a:prstGeom prst="rect">
            <a:avLst/>
          </a:prstGeom>
          <a:effectLst/>
        </p:spPr>
      </p:pic>
      <p:pic>
        <p:nvPicPr>
          <p:cNvPr id="5" name="Picture 4" descr="filig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81000"/>
            <a:ext cx="1143000" cy="1143000"/>
          </a:xfrm>
          <a:prstGeom prst="rect">
            <a:avLst/>
          </a:prstGeom>
          <a:effectLst/>
        </p:spPr>
      </p:pic>
      <p:pic>
        <p:nvPicPr>
          <p:cNvPr id="6" name="Picture 5" descr="filig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0668000" y="5334000"/>
            <a:ext cx="1143000" cy="114300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0" y="1428750"/>
            <a:ext cx="1219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0" b="1" i="0">
                <a:solidFill>
                  <a:srgbClr val="C9A227"/>
                </a:solidFill>
                <a:latin typeface="Playfair Display"/>
              </a:rPr>
              <a:t>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543300"/>
            <a:ext cx="12192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300">
                <a:solidFill>
                  <a:srgbClr val="6E93AE"/>
                </a:solidFill>
                <a:latin typeface="EB Garamond"/>
              </a:rPr>
              <a:t>C5.6 · ACQUISITION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790950"/>
            <a:ext cx="12192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3A3630"/>
                </a:solidFill>
                <a:latin typeface="Playfair Display"/>
              </a:rPr>
              <a:t>Leviers digitaux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1500" y="4733925"/>
            <a:ext cx="147637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4125" y="4733925"/>
            <a:ext cx="147637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oset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225" y="4629150"/>
            <a:ext cx="209550" cy="209550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1905000" y="4953000"/>
            <a:ext cx="838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6B625A"/>
                </a:solidFill>
                <a:latin typeface="EB Garamond"/>
              </a:rPr>
              <a:t>Le gratuit d'abord. Le payant, reserve aux beaux jours.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876300"/>
            <a:ext cx="1047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 spc="400">
                <a:solidFill>
                  <a:srgbClr val="A07C1F"/>
                </a:solidFill>
                <a:latin typeface="EB Garamond"/>
              </a:rPr>
              <a:t>C5.6 · LEVIERS DIGITAUX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1049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0" b="1" i="0">
                <a:solidFill>
                  <a:srgbClr val="3A3630"/>
                </a:solidFill>
                <a:latin typeface="Playfair Display"/>
              </a:rPr>
              <a:t>Leviers prioritaires</a:t>
            </a:r>
          </a:p>
        </p:txBody>
      </p:sp>
      <p:pic>
        <p:nvPicPr>
          <p:cNvPr id="5" name="Picture 4" descr="ros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790700"/>
            <a:ext cx="209550" cy="209550"/>
          </a:xfrm>
          <a:prstGeom prst="rect">
            <a:avLst/>
          </a:prstGeom>
          <a:effectLst/>
        </p:spPr>
      </p:pic>
      <p:sp>
        <p:nvSpPr>
          <p:cNvPr id="6" name="Rectangle 5"/>
          <p:cNvSpPr/>
          <p:nvPr/>
        </p:nvSpPr>
        <p:spPr>
          <a:xfrm>
            <a:off x="1181100" y="1838325"/>
            <a:ext cx="1015365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476500"/>
            <a:ext cx="1047750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57250" y="2495550"/>
          <a:ext cx="10477501" cy="26479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19375"/>
                <a:gridCol w="5500688"/>
                <a:gridCol w="2357438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FAMILLE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LEVIER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PRIORITE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Utilisateurs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Micro-influence culture / Paris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Haute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Utilisateurs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Avis Google / TripAdvisor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Haute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Utilisateurs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UGC #AdopteTonRomantique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Haute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Marque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SEO (refonte)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Haute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Marque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SMO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Haute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Payants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SEA (Google Ads)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Moyenne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Payants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Display / retargeting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Basse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57250" y="2876550"/>
            <a:ext cx="10477500" cy="15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7250" y="5143500"/>
            <a:ext cx="1047750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63246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0" i="1">
                <a:solidFill>
                  <a:srgbClr val="6B625A"/>
                </a:solidFill>
                <a:latin typeface="EB Garamond"/>
              </a:rPr>
              <a:t>Analyse des leviers digitaux (BC-5, C5.6).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6534150"/>
            <a:ext cx="476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7" b="0" i="1" spc="100">
                <a:solidFill>
                  <a:srgbClr val="6B625A"/>
                </a:solidFill>
                <a:latin typeface="EB Garamond"/>
              </a:rPr>
              <a:t>Musee de la Vie Romantique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0" y="65341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37" b="0" i="0" spc="200">
                <a:solidFill>
                  <a:srgbClr val="A07C1F"/>
                </a:solidFill>
                <a:latin typeface="EB Garamon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steria_soft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668000" y="3571875"/>
            <a:ext cx="1665514" cy="323850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857250" y="876300"/>
            <a:ext cx="1047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 spc="400">
                <a:solidFill>
                  <a:srgbClr val="A07C1F"/>
                </a:solidFill>
                <a:latin typeface="EB Garamond"/>
              </a:rPr>
              <a:t>C5.6 · LEVIERS DIGITAUX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11049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0" b="1" i="0">
                <a:solidFill>
                  <a:srgbClr val="3A3630"/>
                </a:solidFill>
                <a:latin typeface="Playfair Display"/>
              </a:rPr>
              <a:t>Arbitrage organique / payant</a:t>
            </a:r>
          </a:p>
        </p:txBody>
      </p:sp>
      <p:pic>
        <p:nvPicPr>
          <p:cNvPr id="6" name="Picture 5" descr="ros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790700"/>
            <a:ext cx="209550" cy="209550"/>
          </a:xfrm>
          <a:prstGeom prst="rect">
            <a:avLst/>
          </a:prstGeom>
          <a:effectLst/>
        </p:spPr>
      </p:pic>
      <p:sp>
        <p:nvSpPr>
          <p:cNvPr id="7" name="Rectangle 6"/>
          <p:cNvSpPr/>
          <p:nvPr/>
        </p:nvSpPr>
        <p:spPr>
          <a:xfrm>
            <a:off x="1181100" y="1838325"/>
            <a:ext cx="1015365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os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105150"/>
            <a:ext cx="209550" cy="209550"/>
          </a:xfrm>
          <a:prstGeom prst="rect">
            <a:avLst/>
          </a:prstGeom>
          <a:effectLst/>
        </p:spPr>
      </p:pic>
      <p:sp>
        <p:nvSpPr>
          <p:cNvPr id="9" name="TextBox 8"/>
          <p:cNvSpPr txBox="1"/>
          <p:nvPr/>
        </p:nvSpPr>
        <p:spPr>
          <a:xfrm>
            <a:off x="1390650" y="3048000"/>
            <a:ext cx="96583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630"/>
                </a:solidFill>
                <a:latin typeface="EB Garamond"/>
              </a:rPr>
              <a:t>Payant : environ 4 000 €, moins d'un cinquieme du budget.</a:t>
            </a:r>
          </a:p>
        </p:txBody>
      </p:sp>
      <p:pic>
        <p:nvPicPr>
          <p:cNvPr id="10" name="Picture 9" descr="ros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848100"/>
            <a:ext cx="209550" cy="209550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1390650" y="3790950"/>
            <a:ext cx="96583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630"/>
                </a:solidFill>
                <a:latin typeface="EB Garamond"/>
              </a:rPr>
              <a:t>Organique : 70 a 80 % de l'effort (SEO, SMO, UGC, micro-influence).</a:t>
            </a:r>
          </a:p>
        </p:txBody>
      </p:sp>
      <p:pic>
        <p:nvPicPr>
          <p:cNvPr id="12" name="Picture 11" descr="ros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591050"/>
            <a:ext cx="209550" cy="209550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1390650" y="4533900"/>
            <a:ext cx="965835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3A3630"/>
                </a:solidFill>
                <a:latin typeface="EB Garamond"/>
              </a:rPr>
              <a:t>Payant reserve aux temps forts (Saint-Valentin, lancement).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63246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0" i="1">
                <a:solidFill>
                  <a:srgbClr val="6B625A"/>
                </a:solidFill>
                <a:latin typeface="EB Garamond"/>
              </a:rPr>
              <a:t>Arbitrage derive du budget 21 500 € (BC-5, C5.6).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6534150"/>
            <a:ext cx="476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7" b="0" i="1" spc="100">
                <a:solidFill>
                  <a:srgbClr val="6B625A"/>
                </a:solidFill>
                <a:latin typeface="EB Garamond"/>
              </a:rPr>
              <a:t>Musee de la Vie Romantique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9750" y="65341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37" b="0" i="0" spc="200">
                <a:solidFill>
                  <a:srgbClr val="A07C1F"/>
                </a:solidFill>
                <a:latin typeface="EB Garamon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C4D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steria_r.png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9601200" y="0"/>
            <a:ext cx="2155371" cy="4191000"/>
          </a:xfrm>
          <a:prstGeom prst="rect">
            <a:avLst/>
          </a:prstGeom>
          <a:effectLst/>
        </p:spPr>
      </p:pic>
      <p:pic>
        <p:nvPicPr>
          <p:cNvPr id="4" name="Picture 3" descr="wisteria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285750" y="3952875"/>
            <a:ext cx="1763486" cy="3429000"/>
          </a:xfrm>
          <a:prstGeom prst="rect">
            <a:avLst/>
          </a:prstGeom>
          <a:effectLst/>
        </p:spPr>
      </p:pic>
      <p:pic>
        <p:nvPicPr>
          <p:cNvPr id="5" name="Picture 4" descr="filig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81000"/>
            <a:ext cx="1143000" cy="1143000"/>
          </a:xfrm>
          <a:prstGeom prst="rect">
            <a:avLst/>
          </a:prstGeom>
          <a:effectLst/>
        </p:spPr>
      </p:pic>
      <p:pic>
        <p:nvPicPr>
          <p:cNvPr id="6" name="Picture 5" descr="filig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10668000" y="5334000"/>
            <a:ext cx="1143000" cy="114300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0" y="1428750"/>
            <a:ext cx="121920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0" b="1" i="0">
                <a:solidFill>
                  <a:srgbClr val="C9A227"/>
                </a:solidFill>
                <a:latin typeface="Playfair Display"/>
              </a:rPr>
              <a:t>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543300"/>
            <a:ext cx="12192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300">
                <a:solidFill>
                  <a:srgbClr val="6E93AE"/>
                </a:solidFill>
                <a:latin typeface="EB Garamond"/>
              </a:rPr>
              <a:t>C5.8 · FIDELISATION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790950"/>
            <a:ext cx="12192000" cy="628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3A3630"/>
                </a:solidFill>
                <a:latin typeface="Playfair Display"/>
              </a:rPr>
              <a:t>Campagne e-mailing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1500" y="4733925"/>
            <a:ext cx="147637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4125" y="4733925"/>
            <a:ext cx="147637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oset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1225" y="4629150"/>
            <a:ext cx="209550" cy="209550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1905000" y="4953000"/>
            <a:ext cx="8382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0" i="1">
                <a:solidFill>
                  <a:srgbClr val="6B625A"/>
                </a:solidFill>
                <a:latin typeface="EB Garamond"/>
              </a:rPr>
              <a:t>Le seul canal que le musee possede vraiment.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7250" y="876300"/>
            <a:ext cx="1047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5" b="1" i="0" spc="400">
                <a:solidFill>
                  <a:srgbClr val="A07C1F"/>
                </a:solidFill>
                <a:latin typeface="EB Garamond"/>
              </a:rPr>
              <a:t>C5.8 · CAMPAGNE E-MAILING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1104900"/>
            <a:ext cx="104775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50" b="1" i="0">
                <a:solidFill>
                  <a:srgbClr val="3A3630"/>
                </a:solidFill>
                <a:latin typeface="Playfair Display"/>
              </a:rPr>
              <a:t>Objectifs de delivrabilite</a:t>
            </a:r>
          </a:p>
        </p:txBody>
      </p:sp>
      <p:pic>
        <p:nvPicPr>
          <p:cNvPr id="5" name="Picture 4" descr="roset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790700"/>
            <a:ext cx="209550" cy="209550"/>
          </a:xfrm>
          <a:prstGeom prst="rect">
            <a:avLst/>
          </a:prstGeom>
          <a:effectLst/>
        </p:spPr>
      </p:pic>
      <p:sp>
        <p:nvSpPr>
          <p:cNvPr id="6" name="Rectangle 5"/>
          <p:cNvSpPr/>
          <p:nvPr/>
        </p:nvSpPr>
        <p:spPr>
          <a:xfrm>
            <a:off x="1181100" y="1838325"/>
            <a:ext cx="1015365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7250" y="2476500"/>
            <a:ext cx="1047750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57250" y="2495550"/>
          <a:ext cx="10477499" cy="200025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622426"/>
                <a:gridCol w="2465294"/>
                <a:gridCol w="3389779"/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INDICATEUR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CIBLE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spc="200">
                          <a:solidFill>
                            <a:srgbClr val="A07C1F"/>
                          </a:solidFill>
                          <a:latin typeface="EB Garamond"/>
                        </a:rPr>
                        <a:t>SOURCE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Taux d'ouverture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≥ 40 %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Brevo 2025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Reactivite (CTOR)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≥ 12 %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Brevo 2025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Taux de clic (CTR)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≥ 4 %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Brevo 2025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Taux de desabonnement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&lt; 0,5 %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0" spc="0">
                          <a:solidFill>
                            <a:srgbClr val="3A3630"/>
                          </a:solidFill>
                          <a:latin typeface="EB Garamond"/>
                        </a:rPr>
                        <a:t>bonne pratique</a:t>
                      </a:r>
                    </a:p>
                  </a:txBody>
                  <a:tcPr marL="171450" marR="171450" marT="38100" marB="38100" anchor="ctr">
                    <a:solidFill>
                      <a:srgbClr val="FBF8F1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Contacts opt-in / RGPD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100 %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62" b="1">
                          <a:solidFill>
                            <a:srgbClr val="3A3630"/>
                          </a:solidFill>
                          <a:latin typeface="EB Garamond"/>
                        </a:rPr>
                        <a:t>double opt-in, UE</a:t>
                      </a:r>
                    </a:p>
                  </a:txBody>
                  <a:tcPr marL="171450" marR="171450" marT="38100" marB="38100" anchor="ctr">
                    <a:solidFill>
                      <a:srgbClr val="F5EFE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57250" y="2876550"/>
            <a:ext cx="10477500" cy="15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7250" y="4495800"/>
            <a:ext cx="1047750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250" y="6324600"/>
            <a:ext cx="8572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0" i="1">
                <a:solidFill>
                  <a:srgbClr val="6B625A"/>
                </a:solidFill>
                <a:latin typeface="EB Garamond"/>
              </a:rPr>
              <a:t>Objectifs et delivrabilite, cibles sourcees (BC-5, C5.8).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250" y="6534150"/>
            <a:ext cx="476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37" b="0" i="1" spc="100">
                <a:solidFill>
                  <a:srgbClr val="6B625A"/>
                </a:solidFill>
                <a:latin typeface="EB Garamond"/>
              </a:rPr>
              <a:t>Musee de la Vie Romantique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29750" y="6534150"/>
            <a:ext cx="190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37" b="0" i="0" spc="200">
                <a:solidFill>
                  <a:srgbClr val="A07C1F"/>
                </a:solidFill>
                <a:latin typeface="EB Garamon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isteria_soft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flipH="1">
            <a:off x="-381000" y="-1333500"/>
            <a:ext cx="1763486" cy="3429000"/>
          </a:xfrm>
          <a:prstGeom prst="rect">
            <a:avLst/>
          </a:prstGeom>
          <a:effectLst/>
        </p:spPr>
      </p:pic>
      <p:pic>
        <p:nvPicPr>
          <p:cNvPr id="4" name="Picture 3" descr="wisteria_soft.png"/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>
            <a:off x="10048875" y="3524250"/>
            <a:ext cx="1763486" cy="3429000"/>
          </a:xfrm>
          <a:prstGeom prst="rect">
            <a:avLst/>
          </a:prstGeom>
          <a:effectLst/>
        </p:spPr>
      </p:pic>
      <p:sp>
        <p:nvSpPr>
          <p:cNvPr id="5" name="TextBox 4"/>
          <p:cNvSpPr txBox="1"/>
          <p:nvPr/>
        </p:nvSpPr>
        <p:spPr>
          <a:xfrm>
            <a:off x="1714500" y="1257300"/>
            <a:ext cx="8763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0" b="1" i="0">
                <a:solidFill>
                  <a:srgbClr val="C9A227"/>
                </a:solidFill>
                <a:latin typeface="Playfair Display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14500" y="2286000"/>
            <a:ext cx="8763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3000" b="0" i="1">
                <a:solidFill>
                  <a:srgbClr val="3A3630"/>
                </a:solidFill>
                <a:latin typeface="Playfair Display"/>
              </a:rPr>
              <a:t>Un musee qui murmure peut se faire entendre, s'il choisit bien ses mots.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7250" y="4019550"/>
            <a:ext cx="110490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19850" y="4019550"/>
            <a:ext cx="1104900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3800475"/>
            <a:ext cx="381000" cy="285750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0" y="4305300"/>
            <a:ext cx="1219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300">
                <a:solidFill>
                  <a:srgbClr val="A07C1F"/>
                </a:solidFill>
                <a:latin typeface="EB Garamond"/>
              </a:rPr>
              <a:t>LADY WHISTLEDOWN</a:t>
            </a:r>
          </a:p>
        </p:txBody>
      </p:sp>
      <p:pic>
        <p:nvPicPr>
          <p:cNvPr id="11" name="Picture 10" descr="seal_l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7850" y="5295900"/>
            <a:ext cx="876300" cy="876300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0" y="6457950"/>
            <a:ext cx="12192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25" b="0" i="1">
                <a:solidFill>
                  <a:srgbClr val="6B625A"/>
                </a:solidFill>
                <a:latin typeface="EB Garamond"/>
              </a:rPr>
              <a:t>Fil rouge narratif du dossier.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9100" y="419100"/>
            <a:ext cx="11353800" cy="6019800"/>
          </a:xfrm>
          <a:prstGeom prst="rect">
            <a:avLst/>
          </a:prstGeom>
          <a:noFill/>
          <a:ln w="1905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5300" y="495300"/>
            <a:ext cx="11201400" cy="5867400"/>
          </a:xfrm>
          <a:prstGeom prst="rect">
            <a:avLst/>
          </a:prstGeom>
          <a:noFill/>
          <a:ln w="9525">
            <a:solidFill>
              <a:srgbClr val="E4C9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isteria.png"/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419100" y="419100"/>
            <a:ext cx="1567543" cy="3048000"/>
          </a:xfrm>
          <a:prstGeom prst="rect">
            <a:avLst/>
          </a:prstGeom>
          <a:effectLst/>
        </p:spPr>
      </p:pic>
      <p:pic>
        <p:nvPicPr>
          <p:cNvPr id="6" name="Picture 5" descr="wisteria_r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10201275" y="419100"/>
            <a:ext cx="1567543" cy="3048000"/>
          </a:xfrm>
          <a:prstGeom prst="rect">
            <a:avLst/>
          </a:prstGeom>
          <a:effectLst/>
        </p:spPr>
      </p:pic>
      <p:sp>
        <p:nvSpPr>
          <p:cNvPr id="7" name="TextBox 6"/>
          <p:cNvSpPr txBox="1"/>
          <p:nvPr/>
        </p:nvSpPr>
        <p:spPr>
          <a:xfrm>
            <a:off x="1333500" y="2381250"/>
            <a:ext cx="95250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 i="0">
                <a:solidFill>
                  <a:srgbClr val="3A3630"/>
                </a:solidFill>
                <a:latin typeface="Playfair Display"/>
              </a:rPr>
              <a:t>Love Stories IRL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1500" y="3495675"/>
            <a:ext cx="147637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34125" y="3495675"/>
            <a:ext cx="1476375" cy="127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oset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225" y="3390900"/>
            <a:ext cx="209550" cy="209550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1333500" y="3733800"/>
            <a:ext cx="9525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6E93AE"/>
                </a:solidFill>
                <a:latin typeface="EB Garamond"/>
              </a:rPr>
              <a:t>Reouverture fevrier 2026 · @museevieromantique · #AdopteTonRomantique</a:t>
            </a:r>
          </a:p>
        </p:txBody>
      </p:sp>
      <p:pic>
        <p:nvPicPr>
          <p:cNvPr id="12" name="Picture 11" descr="seal_l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125" y="4476750"/>
            <a:ext cx="1047750" cy="1047750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0" y="5810250"/>
            <a:ext cx="121920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50" b="0" i="1">
                <a:solidFill>
                  <a:srgbClr val="3A3630"/>
                </a:solidFill>
                <a:latin typeface="Playfair Display"/>
              </a:rPr>
              <a:t>Bien a vous, Lady Whistledown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