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23731" y="274320"/>
            <a:ext cx="1051560" cy="105156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44509" y="926287"/>
            <a:ext cx="868680" cy="86868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23731" y="1464868"/>
            <a:ext cx="713232" cy="71323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844509" y="1907071"/>
            <a:ext cx="566928" cy="566928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23731" y="2258566"/>
            <a:ext cx="438912" cy="43891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44509" y="2530691"/>
            <a:ext cx="329184" cy="32918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23731" y="2734785"/>
            <a:ext cx="237744" cy="23774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92627" y="2057400"/>
            <a:ext cx="1051560" cy="105156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71849" y="2709367"/>
            <a:ext cx="868680" cy="86868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2627" y="3247948"/>
            <a:ext cx="713232" cy="71323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71849" y="3690151"/>
            <a:ext cx="566928" cy="566928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92627" y="4041646"/>
            <a:ext cx="438912" cy="43891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1849" y="4313771"/>
            <a:ext cx="329184" cy="32918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92627" y="4517865"/>
            <a:ext cx="237744" cy="23774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584" y="342900"/>
            <a:ext cx="10972527" cy="6172200"/>
          </a:xfrm>
          <a:prstGeom prst="rect">
            <a:avLst/>
          </a:prstGeom>
          <a:noFill/>
          <a:ln w="2032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4448" y="397764"/>
            <a:ext cx="10862799" cy="6062472"/>
          </a:xfrm>
          <a:prstGeom prst="rect">
            <a:avLst/>
          </a:prstGeom>
          <a:noFill/>
          <a:ln w="952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6294" y="1097280"/>
            <a:ext cx="10119107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500" b="0" i="1">
                <a:solidFill>
                  <a:srgbClr val="6E93AE"/>
                </a:solidFill>
                <a:latin typeface="Garamond"/>
              </a:rPr>
              <a:t>Cher Aimable Lecteur, voici un musée adoré du Tout-Paris, et ignoré du numérique.</a:t>
            </a:r>
          </a:p>
        </p:txBody>
      </p:sp>
      <p:sp>
        <p:nvSpPr>
          <p:cNvPr id="20" name="Oval 19"/>
          <p:cNvSpPr/>
          <p:nvPr/>
        </p:nvSpPr>
        <p:spPr>
          <a:xfrm>
            <a:off x="2072588" y="2057400"/>
            <a:ext cx="8046518" cy="2331720"/>
          </a:xfrm>
          <a:prstGeom prst="ellipse">
            <a:avLst/>
          </a:prstGeom>
          <a:noFill/>
          <a:ln w="2286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72588" y="2430475"/>
            <a:ext cx="8046518" cy="97932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4600" b="1" i="0">
                <a:solidFill>
                  <a:srgbClr val="3A3630"/>
                </a:solidFill>
                <a:latin typeface="Didot"/>
              </a:rPr>
              <a:t>Love Stories IRL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98567" y="3456432"/>
            <a:ext cx="2194560" cy="27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72588" y="3549700"/>
            <a:ext cx="8046518" cy="69951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900" b="0" i="1">
                <a:solidFill>
                  <a:srgbClr val="3A3630"/>
                </a:solidFill>
                <a:latin typeface="Garamond"/>
              </a:rPr>
              <a:t>Musée de la Vie Romantique · Projet BC-5 e-business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6294" y="4869180"/>
            <a:ext cx="10119107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600" b="0" i="0">
                <a:solidFill>
                  <a:srgbClr val="6E93AE"/>
                </a:solidFill>
                <a:latin typeface="Garamond"/>
              </a:rPr>
              <a:t>Année 2025-2026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94" y="5177790"/>
            <a:ext cx="10119107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300" b="0" i="0" spc="200" cap="small">
                <a:solidFill>
                  <a:srgbClr val="3A3630"/>
                </a:solidFill>
                <a:latin typeface="Garamond"/>
              </a:rPr>
              <a:t>Estelle Casterot</a:t>
            </a:r>
          </a:p>
        </p:txBody>
      </p:sp>
      <p:sp>
        <p:nvSpPr>
          <p:cNvPr id="26" name="Oval 25"/>
          <p:cNvSpPr/>
          <p:nvPr/>
        </p:nvSpPr>
        <p:spPr>
          <a:xfrm>
            <a:off x="5775807" y="5692140"/>
            <a:ext cx="640080" cy="64008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75807" y="5692140"/>
            <a:ext cx="64008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800" b="1" i="0">
                <a:solidFill>
                  <a:srgbClr val="3A3630"/>
                </a:solidFill>
                <a:latin typeface="Didot"/>
              </a:rPr>
              <a:t>VR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23731" y="274320"/>
            <a:ext cx="1051560" cy="105156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44509" y="926287"/>
            <a:ext cx="868680" cy="86868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23731" y="1464868"/>
            <a:ext cx="713232" cy="71323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844509" y="1907071"/>
            <a:ext cx="566928" cy="566928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23731" y="2258566"/>
            <a:ext cx="438912" cy="43891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44509" y="2530691"/>
            <a:ext cx="329184" cy="32918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23731" y="2734785"/>
            <a:ext cx="237744" cy="23774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294" y="685800"/>
            <a:ext cx="10119107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3400" b="1" i="0" spc="300" cap="small">
                <a:solidFill>
                  <a:srgbClr val="3A3630"/>
                </a:solidFill>
                <a:latin typeface="Didot"/>
              </a:rPr>
              <a:t>Sommaire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36294" y="1645920"/>
            <a:ext cx="10119107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36294" y="1691640"/>
            <a:ext cx="10119107" cy="12801"/>
          </a:xfrm>
          <a:prstGeom prst="rect">
            <a:avLst/>
          </a:prstGeom>
          <a:solidFill>
            <a:srgbClr val="E4C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6294" y="2424988"/>
            <a:ext cx="128016" cy="12801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0342" y="2194560"/>
            <a:ext cx="1005840" cy="7680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2600" b="1" i="0">
                <a:solidFill>
                  <a:srgbClr val="3A3630"/>
                </a:solidFill>
                <a:latin typeface="Didot"/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07894" y="2194560"/>
            <a:ext cx="8564627" cy="7680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2000" b="0" i="0">
                <a:solidFill>
                  <a:srgbClr val="3A3630"/>
                </a:solidFill>
                <a:latin typeface="Garamond"/>
              </a:rPr>
              <a:t>C5.1 · Benchmark sectoriel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20342" y="2944368"/>
            <a:ext cx="9735059" cy="7315"/>
          </a:xfrm>
          <a:prstGeom prst="rect">
            <a:avLst/>
          </a:prstGeom>
          <a:solidFill>
            <a:srgbClr val="E4C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6294" y="3193084"/>
            <a:ext cx="128016" cy="12801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0342" y="2962656"/>
            <a:ext cx="1005840" cy="7680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2600" b="1" i="0">
                <a:solidFill>
                  <a:srgbClr val="3A3630"/>
                </a:solidFill>
                <a:latin typeface="Didot"/>
              </a:rPr>
              <a:t>II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07894" y="2962656"/>
            <a:ext cx="8564627" cy="7680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2000" b="0" i="0">
                <a:solidFill>
                  <a:srgbClr val="3A3630"/>
                </a:solidFill>
                <a:latin typeface="Garamond"/>
              </a:rPr>
              <a:t>C5.2 · Tableau de bord des données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20342" y="3712464"/>
            <a:ext cx="9735059" cy="7315"/>
          </a:xfrm>
          <a:prstGeom prst="rect">
            <a:avLst/>
          </a:prstGeom>
          <a:solidFill>
            <a:srgbClr val="E4C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36294" y="3961180"/>
            <a:ext cx="128016" cy="12801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20342" y="3730752"/>
            <a:ext cx="1005840" cy="7680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2600" b="1" i="0">
                <a:solidFill>
                  <a:srgbClr val="3A3630"/>
                </a:solidFill>
                <a:latin typeface="Didot"/>
              </a:rPr>
              <a:t>III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07894" y="3730752"/>
            <a:ext cx="8564627" cy="7680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2000" b="0" i="0">
                <a:solidFill>
                  <a:srgbClr val="3A3630"/>
                </a:solidFill>
                <a:latin typeface="Garamond"/>
              </a:rPr>
              <a:t>C5.4 · Plan marketing opérationnel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20342" y="4480560"/>
            <a:ext cx="9735059" cy="7315"/>
          </a:xfrm>
          <a:prstGeom prst="rect">
            <a:avLst/>
          </a:prstGeom>
          <a:solidFill>
            <a:srgbClr val="E4C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36294" y="4729276"/>
            <a:ext cx="128016" cy="12801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0342" y="4498848"/>
            <a:ext cx="1005840" cy="7680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2600" b="1" i="0">
                <a:solidFill>
                  <a:srgbClr val="3A3630"/>
                </a:solidFill>
                <a:latin typeface="Didot"/>
              </a:rPr>
              <a:t>IV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07894" y="4498848"/>
            <a:ext cx="8564627" cy="7680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2000" b="0" i="0">
                <a:solidFill>
                  <a:srgbClr val="3A3630"/>
                </a:solidFill>
                <a:latin typeface="Garamond"/>
              </a:rPr>
              <a:t>C5.6 · Leviers digitaux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20342" y="5248656"/>
            <a:ext cx="9735059" cy="7315"/>
          </a:xfrm>
          <a:prstGeom prst="rect">
            <a:avLst/>
          </a:prstGeom>
          <a:solidFill>
            <a:srgbClr val="E4C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6294" y="5497372"/>
            <a:ext cx="128016" cy="12801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20342" y="5266944"/>
            <a:ext cx="1005840" cy="7680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2600" b="1" i="0">
                <a:solidFill>
                  <a:srgbClr val="3A3630"/>
                </a:solidFill>
                <a:latin typeface="Didot"/>
              </a:rPr>
              <a:t>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07894" y="5266944"/>
            <a:ext cx="8564627" cy="7680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2000" b="0" i="0">
                <a:solidFill>
                  <a:srgbClr val="3A3630"/>
                </a:solidFill>
                <a:latin typeface="Garamond"/>
              </a:rPr>
              <a:t>C5.8 · Campagne e-mailing</a:t>
            </a:r>
          </a:p>
        </p:txBody>
      </p:sp>
      <p:sp>
        <p:nvSpPr>
          <p:cNvPr id="32" name="Oval 31"/>
          <p:cNvSpPr/>
          <p:nvPr/>
        </p:nvSpPr>
        <p:spPr>
          <a:xfrm>
            <a:off x="10881081" y="6172200"/>
            <a:ext cx="274320" cy="2743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81081" y="6172200"/>
            <a:ext cx="27432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900" b="1" i="0">
                <a:solidFill>
                  <a:srgbClr val="3A3630"/>
                </a:solidFill>
                <a:latin typeface="Didot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23731" y="274320"/>
            <a:ext cx="1051560" cy="105156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44509" y="926287"/>
            <a:ext cx="868680" cy="86868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23731" y="1464868"/>
            <a:ext cx="713232" cy="71323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844509" y="1907071"/>
            <a:ext cx="566928" cy="566928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23731" y="2258566"/>
            <a:ext cx="438912" cy="43891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44509" y="2530691"/>
            <a:ext cx="329184" cy="32918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23731" y="2734785"/>
            <a:ext cx="237744" cy="23774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01" y="411480"/>
            <a:ext cx="77724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01" y="411480"/>
            <a:ext cx="4114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682954" y="411480"/>
            <a:ext cx="77724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19046" y="411480"/>
            <a:ext cx="4114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01" y="6405372"/>
            <a:ext cx="77724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01" y="5669280"/>
            <a:ext cx="4114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82954" y="6405372"/>
            <a:ext cx="77724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19046" y="5669280"/>
            <a:ext cx="4114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6294" y="1097280"/>
            <a:ext cx="10119107" cy="1920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800" b="1" i="0">
                <a:solidFill>
                  <a:srgbClr val="C9A227"/>
                </a:solidFill>
                <a:latin typeface="Didot"/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294" y="3429000"/>
            <a:ext cx="10119107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1" i="0" spc="300" cap="small">
                <a:solidFill>
                  <a:srgbClr val="6E93AE"/>
                </a:solidFill>
                <a:latin typeface="Garamond"/>
              </a:rPr>
              <a:t>C5.1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94" y="3771900"/>
            <a:ext cx="10119107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400" b="1" i="0" spc="200" cap="small">
                <a:solidFill>
                  <a:srgbClr val="3A3630"/>
                </a:solidFill>
                <a:latin typeface="Didot"/>
              </a:rPr>
              <a:t>Benchmark sectoriel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07127" y="4800600"/>
            <a:ext cx="2377440" cy="27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50671" y="5074920"/>
            <a:ext cx="8290352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1">
                <a:solidFill>
                  <a:srgbClr val="3A3630"/>
                </a:solidFill>
                <a:latin typeface="Garamond"/>
              </a:rPr>
              <a:t>Cher Aimable Lecteur, le retard se mesure, et il se rattrape.</a:t>
            </a:r>
          </a:p>
        </p:txBody>
      </p:sp>
      <p:sp>
        <p:nvSpPr>
          <p:cNvPr id="23" name="Oval 22"/>
          <p:cNvSpPr/>
          <p:nvPr/>
        </p:nvSpPr>
        <p:spPr>
          <a:xfrm>
            <a:off x="5940399" y="925830"/>
            <a:ext cx="310896" cy="3886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816041" y="910286"/>
            <a:ext cx="217627" cy="174101"/>
          </a:xfrm>
          <a:prstGeom prst="ellipse">
            <a:avLst/>
          </a:prstGeom>
          <a:solidFill>
            <a:srgbClr val="C9A227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158025" y="910286"/>
            <a:ext cx="217627" cy="174101"/>
          </a:xfrm>
          <a:prstGeom prst="ellipse">
            <a:avLst/>
          </a:prstGeom>
          <a:solidFill>
            <a:srgbClr val="C9A227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081" y="6172200"/>
            <a:ext cx="274320" cy="2743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81081" y="6172200"/>
            <a:ext cx="27432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900" b="1" i="0">
                <a:solidFill>
                  <a:srgbClr val="3A3630"/>
                </a:solidFill>
                <a:latin typeface="Didot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92627" y="2057400"/>
            <a:ext cx="1051560" cy="105156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71849" y="2709367"/>
            <a:ext cx="868680" cy="86868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92627" y="3247948"/>
            <a:ext cx="713232" cy="71323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71849" y="3690151"/>
            <a:ext cx="566928" cy="566928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2627" y="4041646"/>
            <a:ext cx="438912" cy="43891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71849" y="4313771"/>
            <a:ext cx="329184" cy="32918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2627" y="4517865"/>
            <a:ext cx="237744" cy="23774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9B7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228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051560"/>
            <a:ext cx="12191695" cy="27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6294" y="0"/>
            <a:ext cx="10119107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3200" b="1" i="0" spc="240" cap="small">
                <a:solidFill>
                  <a:srgbClr val="FBF8F1"/>
                </a:solidFill>
                <a:latin typeface="Didot"/>
              </a:rPr>
              <a:t>Repères de marché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36294" y="1847088"/>
            <a:ext cx="2289746" cy="2514600"/>
          </a:xfrm>
          <a:prstGeom prst="roundRect">
            <a:avLst/>
          </a:prstGeom>
          <a:solidFill>
            <a:srgbClr val="FBF8F1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6294" y="2167128"/>
            <a:ext cx="2289746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4800" b="1" i="0">
                <a:solidFill>
                  <a:srgbClr val="C9A227"/>
                </a:solidFill>
                <a:latin typeface="Didot"/>
              </a:rPr>
              <a:t>8,7 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91910" y="3264408"/>
            <a:ext cx="778513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3454" y="3401568"/>
            <a:ext cx="2015426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3A3630"/>
                </a:solidFill>
                <a:latin typeface="Garamond"/>
              </a:rPr>
              <a:t>visiteurs/an · Louvre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46080" y="1847088"/>
            <a:ext cx="2289746" cy="2514600"/>
          </a:xfrm>
          <a:prstGeom prst="roundRect">
            <a:avLst/>
          </a:prstGeom>
          <a:solidFill>
            <a:srgbClr val="FBF8F1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46080" y="2167128"/>
            <a:ext cx="2289746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4800" b="1" i="0">
                <a:solidFill>
                  <a:srgbClr val="C9A227"/>
                </a:solidFill>
                <a:latin typeface="Didot"/>
              </a:rPr>
              <a:t>3,7 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01696" y="3264408"/>
            <a:ext cx="778513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3240" y="3401568"/>
            <a:ext cx="2015426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3A3630"/>
                </a:solidFill>
                <a:latin typeface="Garamond"/>
              </a:rPr>
              <a:t>visiteurs/an · Orsay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5866" y="1847088"/>
            <a:ext cx="2289746" cy="2514600"/>
          </a:xfrm>
          <a:prstGeom prst="roundRect">
            <a:avLst/>
          </a:prstGeom>
          <a:solidFill>
            <a:srgbClr val="FBF8F1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5866" y="2167128"/>
            <a:ext cx="2289746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4800" b="1" i="0">
                <a:solidFill>
                  <a:srgbClr val="C9A227"/>
                </a:solidFill>
                <a:latin typeface="Didot"/>
              </a:rPr>
              <a:t>1,4 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11482" y="3264408"/>
            <a:ext cx="778513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93026" y="3401568"/>
            <a:ext cx="2015426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3A3630"/>
                </a:solidFill>
                <a:latin typeface="Garamond"/>
              </a:rPr>
              <a:t>visiteurs/an · Ateliers Lumières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65652" y="1847088"/>
            <a:ext cx="2289746" cy="2514600"/>
          </a:xfrm>
          <a:prstGeom prst="roundRect">
            <a:avLst/>
          </a:prstGeom>
          <a:solidFill>
            <a:srgbClr val="FBF8F1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5652" y="2167128"/>
            <a:ext cx="2289746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4800" b="1" i="0">
                <a:solidFill>
                  <a:srgbClr val="C9A227"/>
                </a:solidFill>
                <a:latin typeface="Didot"/>
              </a:rPr>
              <a:t>+25 %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21268" y="3264408"/>
            <a:ext cx="778513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02812" y="3401568"/>
            <a:ext cx="2015426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3A3630"/>
                </a:solidFill>
                <a:latin typeface="Garamond"/>
              </a:rPr>
              <a:t>visites -30 ans avec le numérique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6294" y="6103620"/>
            <a:ext cx="10119107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3A3630"/>
                </a:solidFill>
                <a:latin typeface="Garamond"/>
              </a:rPr>
              <a:t>Source : repères de marché, sources de veille (BC-5, C5.1).</a:t>
            </a:r>
          </a:p>
        </p:txBody>
      </p:sp>
      <p:sp>
        <p:nvSpPr>
          <p:cNvPr id="31" name="Oval 30"/>
          <p:cNvSpPr/>
          <p:nvPr/>
        </p:nvSpPr>
        <p:spPr>
          <a:xfrm>
            <a:off x="10881081" y="6172200"/>
            <a:ext cx="274320" cy="2743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81081" y="6172200"/>
            <a:ext cx="27432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900" b="1" i="0">
                <a:solidFill>
                  <a:srgbClr val="3A3630"/>
                </a:solidFill>
                <a:latin typeface="Didot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92627" y="2057400"/>
            <a:ext cx="1051560" cy="105156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71849" y="2709367"/>
            <a:ext cx="868680" cy="86868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92627" y="3247948"/>
            <a:ext cx="713232" cy="71323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71849" y="3690151"/>
            <a:ext cx="566928" cy="566928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2627" y="4041646"/>
            <a:ext cx="438912" cy="43891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71849" y="4313771"/>
            <a:ext cx="329184" cy="32918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2627" y="4517865"/>
            <a:ext cx="237744" cy="23774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9B7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228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051560"/>
            <a:ext cx="12191695" cy="27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6294" y="0"/>
            <a:ext cx="10119107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3200" b="1" i="0" spc="240" cap="small">
                <a:solidFill>
                  <a:srgbClr val="FBF8F1"/>
                </a:solidFill>
                <a:latin typeface="Didot"/>
              </a:rPr>
              <a:t>Scorecard pondérée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036294" y="1389888"/>
          <a:ext cx="10119104" cy="4507987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395226"/>
                <a:gridCol w="1331461"/>
                <a:gridCol w="1398034"/>
                <a:gridCol w="1198315"/>
                <a:gridCol w="1531180"/>
                <a:gridCol w="126488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BF8F1"/>
                          </a:solidFill>
                          <a:latin typeface="Garamond"/>
                        </a:rPr>
                        <a:t>Critère (poids)</a:t>
                      </a:r>
                    </a:p>
                  </a:txBody>
                  <a:tcPr marL="137160" marR="137160" marT="45720" marB="45720" anchor="ctr">
                    <a:solidFill>
                      <a:srgbClr val="9B7F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 i="0">
                          <a:solidFill>
                            <a:srgbClr val="FBF8F1"/>
                          </a:solidFill>
                          <a:latin typeface="Garamond"/>
                        </a:rPr>
                        <a:t>Vie Rom.</a:t>
                      </a:r>
                    </a:p>
                  </a:txBody>
                  <a:tcPr marL="137160" marR="137160" marT="45720" marB="45720" anchor="ctr">
                    <a:solidFill>
                      <a:srgbClr val="9B7F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 i="0">
                          <a:solidFill>
                            <a:srgbClr val="FBF8F1"/>
                          </a:solidFill>
                          <a:latin typeface="Garamond"/>
                        </a:rPr>
                        <a:t>G. Moreau</a:t>
                      </a:r>
                    </a:p>
                  </a:txBody>
                  <a:tcPr marL="137160" marR="137160" marT="45720" marB="45720" anchor="ctr">
                    <a:solidFill>
                      <a:srgbClr val="9B7F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 i="0">
                          <a:solidFill>
                            <a:srgbClr val="FBF8F1"/>
                          </a:solidFill>
                          <a:latin typeface="Garamond"/>
                        </a:rPr>
                        <a:t>Orsay</a:t>
                      </a:r>
                    </a:p>
                  </a:txBody>
                  <a:tcPr marL="137160" marR="137160" marT="45720" marB="45720" anchor="ctr">
                    <a:solidFill>
                      <a:srgbClr val="9B7F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 i="0">
                          <a:solidFill>
                            <a:srgbClr val="FBF8F1"/>
                          </a:solidFill>
                          <a:latin typeface="Garamond"/>
                        </a:rPr>
                        <a:t>At. Lumières</a:t>
                      </a:r>
                    </a:p>
                  </a:txBody>
                  <a:tcPr marL="137160" marR="137160" marT="45720" marB="45720" anchor="ctr">
                    <a:solidFill>
                      <a:srgbClr val="9B7F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 i="0">
                          <a:solidFill>
                            <a:srgbClr val="FBF8F1"/>
                          </a:solidFill>
                          <a:latin typeface="Garamond"/>
                        </a:rPr>
                        <a:t>Louvre</a:t>
                      </a:r>
                    </a:p>
                  </a:txBody>
                  <a:tcPr marL="137160" marR="137160" marT="45720" marB="45720" anchor="ctr">
                    <a:solidFill>
                      <a:srgbClr val="9B7FB8"/>
                    </a:solidFill>
                  </a:tcPr>
                </a:tc>
              </a:tr>
              <a:tr h="565621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3A3630"/>
                          </a:solidFill>
                          <a:latin typeface="Garamond"/>
                        </a:rPr>
                        <a:t>Offre digitale (20 %)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2 / 5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2 / 5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4 / 5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4 / 5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5 / 5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</a:tr>
              <a:tr h="565621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3A3630"/>
                          </a:solidFill>
                          <a:latin typeface="Garamond"/>
                        </a:rPr>
                        <a:t>Présence sociale (20 %)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2 / 5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2 / 5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3 / 5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5 / 5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5 / 5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</a:tr>
              <a:tr h="565621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3A3630"/>
                          </a:solidFill>
                          <a:latin typeface="Garamond"/>
                        </a:rPr>
                        <a:t>UX mobile / site (15 %)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2 / 5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2 / 5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4 / 5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4 / 5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3 / 5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</a:tr>
              <a:tr h="565621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3A3630"/>
                          </a:solidFill>
                          <a:latin typeface="Garamond"/>
                        </a:rPr>
                        <a:t>Médiation / immersion (15 %)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3 / 5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3 / 5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4 / 5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5 / 5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4 / 5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</a:tr>
              <a:tr h="565621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3A3630"/>
                          </a:solidFill>
                          <a:latin typeface="Garamond"/>
                        </a:rPr>
                        <a:t>Notoriété / fréquentation (15 %)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2 / 5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2 / 5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4 / 5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4 / 5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5 / 5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</a:tr>
              <a:tr h="565621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3A3630"/>
                          </a:solidFill>
                          <a:latin typeface="Garamond"/>
                        </a:rPr>
                        <a:t>Différenciation identitaire (15 %)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5 / 5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4 / 5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3 / 5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3 / 5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3 / 5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</a:tr>
              <a:tr h="565621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3A3630"/>
                          </a:solidFill>
                          <a:latin typeface="Garamond"/>
                        </a:rPr>
                        <a:t>Score pondéré global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2,6 / 5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2,5 / 5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3,7 / 5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4,2 / 5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4,3 / 5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1036294" y="1920240"/>
            <a:ext cx="10119107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36294" y="1389888"/>
            <a:ext cx="10119107" cy="4507992"/>
          </a:xfrm>
          <a:prstGeom prst="rect">
            <a:avLst/>
          </a:prstGeom>
          <a:noFill/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6294" y="6103620"/>
            <a:ext cx="10119107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 i="1">
                <a:solidFill>
                  <a:srgbClr val="3A3630"/>
                </a:solidFill>
                <a:latin typeface="Garamond"/>
              </a:rPr>
              <a:t>Notation 1 à 5, analyse octobre 2025 (BC-5, C5.1).</a:t>
            </a:r>
          </a:p>
        </p:txBody>
      </p:sp>
      <p:sp>
        <p:nvSpPr>
          <p:cNvPr id="18" name="Oval 17"/>
          <p:cNvSpPr/>
          <p:nvPr/>
        </p:nvSpPr>
        <p:spPr>
          <a:xfrm>
            <a:off x="10881081" y="6172200"/>
            <a:ext cx="274320" cy="2743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81081" y="6172200"/>
            <a:ext cx="27432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900" b="1" i="0">
                <a:solidFill>
                  <a:srgbClr val="3A3630"/>
                </a:solidFill>
                <a:latin typeface="Didot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23731" y="274320"/>
            <a:ext cx="1051560" cy="105156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44509" y="926287"/>
            <a:ext cx="868680" cy="86868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23731" y="1464868"/>
            <a:ext cx="713232" cy="71323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844509" y="1907071"/>
            <a:ext cx="566928" cy="566928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23731" y="2258566"/>
            <a:ext cx="438912" cy="43891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44509" y="2530691"/>
            <a:ext cx="329184" cy="32918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23731" y="2734785"/>
            <a:ext cx="237744" cy="23774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01" y="411480"/>
            <a:ext cx="77724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01" y="411480"/>
            <a:ext cx="4114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682954" y="411480"/>
            <a:ext cx="77724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19046" y="411480"/>
            <a:ext cx="4114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01" y="6405372"/>
            <a:ext cx="77724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01" y="5669280"/>
            <a:ext cx="4114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82954" y="6405372"/>
            <a:ext cx="77724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19046" y="5669280"/>
            <a:ext cx="4114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6294" y="1097280"/>
            <a:ext cx="10119107" cy="1920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800" b="1" i="0">
                <a:solidFill>
                  <a:srgbClr val="C9A227"/>
                </a:solidFill>
                <a:latin typeface="Didot"/>
              </a:rPr>
              <a:t>II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294" y="3429000"/>
            <a:ext cx="10119107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1" i="0" spc="300" cap="small">
                <a:solidFill>
                  <a:srgbClr val="6E93AE"/>
                </a:solidFill>
                <a:latin typeface="Garamond"/>
              </a:rPr>
              <a:t>C5.2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94" y="3771900"/>
            <a:ext cx="10119107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400" b="1" i="0" spc="200" cap="small">
                <a:solidFill>
                  <a:srgbClr val="3A3630"/>
                </a:solidFill>
                <a:latin typeface="Didot"/>
              </a:rPr>
              <a:t>Tableau de bord des données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07127" y="4800600"/>
            <a:ext cx="2377440" cy="27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50671" y="5074920"/>
            <a:ext cx="8290352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1">
                <a:solidFill>
                  <a:srgbClr val="3A3630"/>
                </a:solidFill>
                <a:latin typeface="Garamond"/>
              </a:rPr>
              <a:t>Des cibles, pas des résultats. Le dispositif ouvre en février 2026.</a:t>
            </a:r>
          </a:p>
        </p:txBody>
      </p:sp>
      <p:sp>
        <p:nvSpPr>
          <p:cNvPr id="23" name="Oval 22"/>
          <p:cNvSpPr/>
          <p:nvPr/>
        </p:nvSpPr>
        <p:spPr>
          <a:xfrm>
            <a:off x="10881081" y="6172200"/>
            <a:ext cx="274320" cy="2743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81081" y="6172200"/>
            <a:ext cx="27432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900" b="1" i="0">
                <a:solidFill>
                  <a:srgbClr val="3A3630"/>
                </a:solidFill>
                <a:latin typeface="Didot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92627" y="2057400"/>
            <a:ext cx="1051560" cy="105156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71849" y="2709367"/>
            <a:ext cx="868680" cy="86868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92627" y="3247948"/>
            <a:ext cx="713232" cy="71323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71849" y="3690151"/>
            <a:ext cx="566928" cy="566928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2627" y="4041646"/>
            <a:ext cx="438912" cy="43891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71849" y="4313771"/>
            <a:ext cx="329184" cy="32918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2627" y="4517865"/>
            <a:ext cx="237744" cy="23774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9B7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228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051560"/>
            <a:ext cx="12191695" cy="27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6294" y="0"/>
            <a:ext cx="10119107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3200" b="1" i="0" spc="240" cap="small">
                <a:solidFill>
                  <a:srgbClr val="FBF8F1"/>
                </a:solidFill>
                <a:latin typeface="Didot"/>
              </a:rPr>
              <a:t>Cibles du dispositif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36294" y="1847088"/>
            <a:ext cx="2289746" cy="2514600"/>
          </a:xfrm>
          <a:prstGeom prst="roundRect">
            <a:avLst/>
          </a:prstGeom>
          <a:solidFill>
            <a:srgbClr val="FBF8F1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6294" y="2167128"/>
            <a:ext cx="2289746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4800" b="1" i="0">
                <a:solidFill>
                  <a:srgbClr val="C9A227"/>
                </a:solidFill>
                <a:latin typeface="Didot"/>
              </a:rPr>
              <a:t>≈ 2 %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91910" y="3264408"/>
            <a:ext cx="778513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3454" y="3401568"/>
            <a:ext cx="2015426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3A3630"/>
                </a:solidFill>
                <a:latin typeface="Garamond"/>
              </a:rPr>
              <a:t>engagement Instagram (cible compte)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46080" y="1847088"/>
            <a:ext cx="2289746" cy="2514600"/>
          </a:xfrm>
          <a:prstGeom prst="roundRect">
            <a:avLst/>
          </a:prstGeom>
          <a:solidFill>
            <a:srgbClr val="FBF8F1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46080" y="2167128"/>
            <a:ext cx="2289746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4800" b="1" i="0">
                <a:solidFill>
                  <a:srgbClr val="C9A227"/>
                </a:solidFill>
                <a:latin typeface="Didot"/>
              </a:rPr>
              <a:t>1 500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01696" y="3264408"/>
            <a:ext cx="778513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3240" y="3401568"/>
            <a:ext cx="2015426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3A3630"/>
                </a:solidFill>
                <a:latin typeface="Garamond"/>
              </a:rPr>
              <a:t>scans QR par trimestre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5866" y="1847088"/>
            <a:ext cx="2289746" cy="2514600"/>
          </a:xfrm>
          <a:prstGeom prst="roundRect">
            <a:avLst/>
          </a:prstGeom>
          <a:solidFill>
            <a:srgbClr val="FBF8F1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5866" y="2167128"/>
            <a:ext cx="2289746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4800" b="1" i="0">
                <a:solidFill>
                  <a:srgbClr val="C9A227"/>
                </a:solidFill>
                <a:latin typeface="Didot"/>
              </a:rPr>
              <a:t>60 %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11482" y="3264408"/>
            <a:ext cx="778513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93026" y="3401568"/>
            <a:ext cx="2015426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3A3630"/>
                </a:solidFill>
                <a:latin typeface="Garamond"/>
              </a:rPr>
              <a:t>écoute complète des capsules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65652" y="1847088"/>
            <a:ext cx="2289746" cy="2514600"/>
          </a:xfrm>
          <a:prstGeom prst="roundRect">
            <a:avLst/>
          </a:prstGeom>
          <a:solidFill>
            <a:srgbClr val="FBF8F1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5652" y="2167128"/>
            <a:ext cx="2289746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4800" b="1" i="0">
                <a:solidFill>
                  <a:srgbClr val="C9A227"/>
                </a:solidFill>
                <a:latin typeface="Didot"/>
              </a:rPr>
              <a:t>300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21268" y="3264408"/>
            <a:ext cx="778513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02812" y="3401568"/>
            <a:ext cx="2015426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3A3630"/>
                </a:solidFill>
                <a:latin typeface="Garamond"/>
              </a:rPr>
              <a:t>posts #AdopteTonRomantique / 6 mois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6294" y="6103620"/>
            <a:ext cx="10119107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3A3630"/>
                </a:solidFill>
                <a:latin typeface="Garamond"/>
              </a:rPr>
              <a:t>Projection, dispositif non déployé (BC-5, C5.2).</a:t>
            </a:r>
          </a:p>
        </p:txBody>
      </p:sp>
      <p:sp>
        <p:nvSpPr>
          <p:cNvPr id="31" name="Oval 30"/>
          <p:cNvSpPr/>
          <p:nvPr/>
        </p:nvSpPr>
        <p:spPr>
          <a:xfrm>
            <a:off x="10881081" y="6172200"/>
            <a:ext cx="274320" cy="2743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81081" y="6172200"/>
            <a:ext cx="27432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900" b="1" i="0">
                <a:solidFill>
                  <a:srgbClr val="3A3630"/>
                </a:solidFill>
                <a:latin typeface="Didot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92627" y="2057400"/>
            <a:ext cx="1051560" cy="105156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71849" y="2709367"/>
            <a:ext cx="868680" cy="86868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92627" y="3247948"/>
            <a:ext cx="713232" cy="71323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71849" y="3690151"/>
            <a:ext cx="566928" cy="566928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2627" y="4041646"/>
            <a:ext cx="438912" cy="43891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71849" y="4313771"/>
            <a:ext cx="329184" cy="32918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2627" y="4517865"/>
            <a:ext cx="237744" cy="23774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9B7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228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051560"/>
            <a:ext cx="12191695" cy="27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6294" y="0"/>
            <a:ext cx="10119107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3200" b="1" i="0" spc="240" cap="small">
                <a:solidFill>
                  <a:srgbClr val="FBF8F1"/>
                </a:solidFill>
                <a:latin typeface="Didot"/>
              </a:rPr>
              <a:t>Indicateurs économiques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036294" y="1389888"/>
          <a:ext cx="10119105" cy="45079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83839"/>
                <a:gridCol w="4540624"/>
                <a:gridCol w="2594642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BF8F1"/>
                          </a:solidFill>
                          <a:latin typeface="Garamond"/>
                        </a:rPr>
                        <a:t>Indicateur</a:t>
                      </a:r>
                    </a:p>
                  </a:txBody>
                  <a:tcPr marL="137160" marR="137160" marT="45720" marB="45720" anchor="ctr">
                    <a:solidFill>
                      <a:srgbClr val="9B7F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BF8F1"/>
                          </a:solidFill>
                          <a:latin typeface="Garamond"/>
                        </a:rPr>
                        <a:t>Calcul</a:t>
                      </a:r>
                    </a:p>
                  </a:txBody>
                  <a:tcPr marL="137160" marR="137160" marT="45720" marB="45720" anchor="ctr">
                    <a:solidFill>
                      <a:srgbClr val="9B7F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 i="0">
                          <a:solidFill>
                            <a:srgbClr val="FBF8F1"/>
                          </a:solidFill>
                          <a:latin typeface="Garamond"/>
                        </a:rPr>
                        <a:t>Repère</a:t>
                      </a:r>
                    </a:p>
                  </a:txBody>
                  <a:tcPr marL="137160" marR="137160" marT="45720" marB="45720" anchor="ctr">
                    <a:solidFill>
                      <a:srgbClr val="9B7FB8"/>
                    </a:solidFill>
                  </a:tcPr>
                </a:tc>
              </a:tr>
              <a:tr h="13197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3A3630"/>
                          </a:solidFill>
                          <a:latin typeface="Garamond"/>
                        </a:rPr>
                        <a:t>Coût par scan QR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4 000 € / 1 500 scans visés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≈ 2,7 € par scan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</a:tr>
              <a:tr h="13197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3A3630"/>
                          </a:solidFill>
                          <a:latin typeface="Garamond"/>
                        </a:rPr>
                        <a:t>Coût par lead (quiz)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1 200 € / 2 000 leads visés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≈ 0,6 € par lead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</a:tr>
              <a:tr h="13197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3A3630"/>
                          </a:solidFill>
                          <a:latin typeface="Garamond"/>
                        </a:rPr>
                        <a:t>Seuil de rentabilité indirect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21 500 € / panier indirect ≈ 6 € par visiteur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≈ 3 600 visites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1036294" y="1920240"/>
            <a:ext cx="10119107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36294" y="1389888"/>
            <a:ext cx="10119107" cy="4507992"/>
          </a:xfrm>
          <a:prstGeom prst="rect">
            <a:avLst/>
          </a:prstGeom>
          <a:noFill/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6294" y="6103620"/>
            <a:ext cx="10119107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 i="1">
                <a:solidFill>
                  <a:srgbClr val="3A3630"/>
                </a:solidFill>
                <a:latin typeface="Garamond"/>
              </a:rPr>
              <a:t>Repères économiques de pilotage (BC-5, C5.2).</a:t>
            </a:r>
          </a:p>
        </p:txBody>
      </p:sp>
      <p:sp>
        <p:nvSpPr>
          <p:cNvPr id="18" name="Oval 17"/>
          <p:cNvSpPr/>
          <p:nvPr/>
        </p:nvSpPr>
        <p:spPr>
          <a:xfrm>
            <a:off x="10881081" y="6172200"/>
            <a:ext cx="274320" cy="2743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81081" y="6172200"/>
            <a:ext cx="27432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900" b="1" i="0">
                <a:solidFill>
                  <a:srgbClr val="3A3630"/>
                </a:solidFill>
                <a:latin typeface="Didot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23731" y="274320"/>
            <a:ext cx="1051560" cy="105156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44509" y="926287"/>
            <a:ext cx="868680" cy="86868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23731" y="1464868"/>
            <a:ext cx="713232" cy="71323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844509" y="1907071"/>
            <a:ext cx="566928" cy="566928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23731" y="2258566"/>
            <a:ext cx="438912" cy="43891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44509" y="2530691"/>
            <a:ext cx="329184" cy="32918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23731" y="2734785"/>
            <a:ext cx="237744" cy="23774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01" y="411480"/>
            <a:ext cx="77724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01" y="411480"/>
            <a:ext cx="4114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682954" y="411480"/>
            <a:ext cx="77724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19046" y="411480"/>
            <a:ext cx="4114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01" y="6405372"/>
            <a:ext cx="77724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01" y="5669280"/>
            <a:ext cx="4114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82954" y="6405372"/>
            <a:ext cx="77724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19046" y="5669280"/>
            <a:ext cx="4114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6294" y="1097280"/>
            <a:ext cx="10119107" cy="1920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800" b="1" i="0">
                <a:solidFill>
                  <a:srgbClr val="C9A227"/>
                </a:solidFill>
                <a:latin typeface="Didot"/>
              </a:rPr>
              <a:t>III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294" y="3429000"/>
            <a:ext cx="10119107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1" i="0" spc="300" cap="small">
                <a:solidFill>
                  <a:srgbClr val="6E93AE"/>
                </a:solidFill>
                <a:latin typeface="Garamond"/>
              </a:rPr>
              <a:t>C5.4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94" y="3771900"/>
            <a:ext cx="10119107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400" b="1" i="0" spc="200" cap="small">
                <a:solidFill>
                  <a:srgbClr val="3A3630"/>
                </a:solidFill>
                <a:latin typeface="Didot"/>
              </a:rPr>
              <a:t>Plan marketing opérationnel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07127" y="4800600"/>
            <a:ext cx="2377440" cy="27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50671" y="5074920"/>
            <a:ext cx="8290352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1">
                <a:solidFill>
                  <a:srgbClr val="3A3630"/>
                </a:solidFill>
                <a:latin typeface="Garamond"/>
              </a:rPr>
              <a:t>Cher Aimable Lecteur, 21 500 euros, et nul tapage inutile.</a:t>
            </a:r>
          </a:p>
        </p:txBody>
      </p:sp>
      <p:sp>
        <p:nvSpPr>
          <p:cNvPr id="23" name="Oval 22"/>
          <p:cNvSpPr/>
          <p:nvPr/>
        </p:nvSpPr>
        <p:spPr>
          <a:xfrm>
            <a:off x="10881081" y="6172200"/>
            <a:ext cx="274320" cy="2743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81081" y="6172200"/>
            <a:ext cx="27432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900" b="1" i="0">
                <a:solidFill>
                  <a:srgbClr val="3A3630"/>
                </a:solidFill>
                <a:latin typeface="Didot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C5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94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2860"/>
          </a:xfrm>
          <a:prstGeom prst="rect">
            <a:avLst/>
          </a:prstGeom>
          <a:solidFill>
            <a:srgbClr val="E8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7432"/>
          </a:xfrm>
          <a:prstGeom prst="rect">
            <a:avLst/>
          </a:prstGeom>
          <a:solidFill>
            <a:srgbClr val="E8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6294" y="0"/>
            <a:ext cx="10119107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3200" b="1" i="0" spc="240" cap="small">
                <a:solidFill>
                  <a:srgbClr val="FBF8F1"/>
                </a:solidFill>
                <a:latin typeface="Didot"/>
              </a:rPr>
              <a:t>Budget : 21 500 €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6294" y="1847088"/>
            <a:ext cx="2289746" cy="2514600"/>
          </a:xfrm>
          <a:prstGeom prst="roundRect">
            <a:avLst/>
          </a:prstGeom>
          <a:solidFill>
            <a:srgbClr val="FBF8F1"/>
          </a:solidFill>
          <a:ln w="15875">
            <a:solidFill>
              <a:srgbClr val="E87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6294" y="2167128"/>
            <a:ext cx="2289746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4800" b="1" i="0">
                <a:solidFill>
                  <a:srgbClr val="E8792B"/>
                </a:solidFill>
                <a:latin typeface="Didot"/>
              </a:rPr>
              <a:t>5 500 €</a:t>
            </a:r>
          </a:p>
        </p:txBody>
      </p:sp>
      <p:sp>
        <p:nvSpPr>
          <p:cNvPr id="9" name="Rectangle 8"/>
          <p:cNvSpPr/>
          <p:nvPr/>
        </p:nvSpPr>
        <p:spPr>
          <a:xfrm>
            <a:off x="1791910" y="3264408"/>
            <a:ext cx="778513" cy="18288"/>
          </a:xfrm>
          <a:prstGeom prst="rect">
            <a:avLst/>
          </a:prstGeom>
          <a:solidFill>
            <a:srgbClr val="E8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3454" y="3401568"/>
            <a:ext cx="2015426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3A3630"/>
                </a:solidFill>
                <a:latin typeface="Garamond"/>
              </a:rPr>
              <a:t>Création de contenus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46080" y="1847088"/>
            <a:ext cx="2289746" cy="2514600"/>
          </a:xfrm>
          <a:prstGeom prst="roundRect">
            <a:avLst/>
          </a:prstGeom>
          <a:solidFill>
            <a:srgbClr val="FBF8F1"/>
          </a:solidFill>
          <a:ln w="15875">
            <a:solidFill>
              <a:srgbClr val="E87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6080" y="2167128"/>
            <a:ext cx="2289746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4800" b="1" i="0">
                <a:solidFill>
                  <a:srgbClr val="E8792B"/>
                </a:solidFill>
                <a:latin typeface="Didot"/>
              </a:rPr>
              <a:t>4 000 €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1696" y="3264408"/>
            <a:ext cx="778513" cy="18288"/>
          </a:xfrm>
          <a:prstGeom prst="rect">
            <a:avLst/>
          </a:prstGeom>
          <a:solidFill>
            <a:srgbClr val="E8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3240" y="3401568"/>
            <a:ext cx="2015426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3A3630"/>
                </a:solidFill>
                <a:latin typeface="Garamond"/>
              </a:rPr>
              <a:t>Signalétique et QR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5866" y="1847088"/>
            <a:ext cx="2289746" cy="2514600"/>
          </a:xfrm>
          <a:prstGeom prst="roundRect">
            <a:avLst/>
          </a:prstGeom>
          <a:solidFill>
            <a:srgbClr val="FBF8F1"/>
          </a:solidFill>
          <a:ln w="15875">
            <a:solidFill>
              <a:srgbClr val="E87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5866" y="2167128"/>
            <a:ext cx="2289746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4800" b="1" i="0">
                <a:solidFill>
                  <a:srgbClr val="E8792B"/>
                </a:solidFill>
                <a:latin typeface="Didot"/>
              </a:rPr>
              <a:t>2 000 €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11482" y="3264408"/>
            <a:ext cx="778513" cy="18288"/>
          </a:xfrm>
          <a:prstGeom prst="rect">
            <a:avLst/>
          </a:prstGeom>
          <a:solidFill>
            <a:srgbClr val="E8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3026" y="3401568"/>
            <a:ext cx="2015426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3A3630"/>
                </a:solidFill>
                <a:latin typeface="Garamond"/>
              </a:rPr>
              <a:t>Publicité de lancement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5652" y="1847088"/>
            <a:ext cx="2289746" cy="2514600"/>
          </a:xfrm>
          <a:prstGeom prst="roundRect">
            <a:avLst/>
          </a:prstGeom>
          <a:solidFill>
            <a:srgbClr val="FBF8F1"/>
          </a:solidFill>
          <a:ln w="15875">
            <a:solidFill>
              <a:srgbClr val="E87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5652" y="2167128"/>
            <a:ext cx="2289746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4800" b="1" i="0">
                <a:solidFill>
                  <a:srgbClr val="E8792B"/>
                </a:solidFill>
                <a:latin typeface="Didot"/>
              </a:rPr>
              <a:t>2 000 €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21268" y="3264408"/>
            <a:ext cx="778513" cy="18288"/>
          </a:xfrm>
          <a:prstGeom prst="rect">
            <a:avLst/>
          </a:prstGeom>
          <a:solidFill>
            <a:srgbClr val="E8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2812" y="3401568"/>
            <a:ext cx="2015426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3A3630"/>
                </a:solidFill>
                <a:latin typeface="Garamond"/>
              </a:rPr>
              <a:t>Influence et partenariats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6294" y="6103620"/>
            <a:ext cx="10119107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3A3630"/>
                </a:solidFill>
                <a:latin typeface="Garamond"/>
              </a:rPr>
              <a:t>4 postes sur 9, enveloppe totale 21 500 € (BC-5, C5.4).</a:t>
            </a:r>
          </a:p>
        </p:txBody>
      </p:sp>
      <p:sp>
        <p:nvSpPr>
          <p:cNvPr id="24" name="Oval 23"/>
          <p:cNvSpPr/>
          <p:nvPr/>
        </p:nvSpPr>
        <p:spPr>
          <a:xfrm>
            <a:off x="10881081" y="6172200"/>
            <a:ext cx="274320" cy="274320"/>
          </a:xfrm>
          <a:prstGeom prst="ellipse">
            <a:avLst/>
          </a:prstGeom>
          <a:solidFill>
            <a:srgbClr val="E8792B"/>
          </a:solidFill>
          <a:ln w="12700">
            <a:solidFill>
              <a:srgbClr val="E87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081" y="6172200"/>
            <a:ext cx="27432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900" b="1" i="0">
                <a:solidFill>
                  <a:srgbClr val="3A3630"/>
                </a:solidFill>
                <a:latin typeface="Dido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92627" y="2057400"/>
            <a:ext cx="1051560" cy="105156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71849" y="2709367"/>
            <a:ext cx="868680" cy="86868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92627" y="3247948"/>
            <a:ext cx="713232" cy="71323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71849" y="3690151"/>
            <a:ext cx="566928" cy="566928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2627" y="4041646"/>
            <a:ext cx="438912" cy="43891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71849" y="4313771"/>
            <a:ext cx="329184" cy="32918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2627" y="4517865"/>
            <a:ext cx="237744" cy="23774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9B7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228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051560"/>
            <a:ext cx="12191695" cy="27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6294" y="0"/>
            <a:ext cx="10119107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3200" b="1" i="0" spc="240" cap="small">
                <a:solidFill>
                  <a:srgbClr val="FBF8F1"/>
                </a:solidFill>
                <a:latin typeface="Didot"/>
              </a:rPr>
              <a:t>Plan d'actions opérationnel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036294" y="1389888"/>
          <a:ext cx="10119105" cy="450799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84959"/>
                <a:gridCol w="3808266"/>
                <a:gridCol w="2502574"/>
                <a:gridCol w="152330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BF8F1"/>
                          </a:solidFill>
                          <a:latin typeface="Garamond"/>
                        </a:rPr>
                        <a:t>Étape</a:t>
                      </a:r>
                    </a:p>
                  </a:txBody>
                  <a:tcPr marL="137160" marR="137160" marT="45720" marB="45720" anchor="ctr">
                    <a:solidFill>
                      <a:srgbClr val="9B7F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BF8F1"/>
                          </a:solidFill>
                          <a:latin typeface="Garamond"/>
                        </a:rPr>
                        <a:t>Action</a:t>
                      </a:r>
                    </a:p>
                  </a:txBody>
                  <a:tcPr marL="137160" marR="137160" marT="45720" marB="45720" anchor="ctr">
                    <a:solidFill>
                      <a:srgbClr val="9B7F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BF8F1"/>
                          </a:solidFill>
                          <a:latin typeface="Garamond"/>
                        </a:rPr>
                        <a:t>Objectif / KPI</a:t>
                      </a:r>
                    </a:p>
                  </a:txBody>
                  <a:tcPr marL="137160" marR="137160" marT="45720" marB="45720" anchor="ctr">
                    <a:solidFill>
                      <a:srgbClr val="9B7F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 i="0">
                          <a:solidFill>
                            <a:srgbClr val="FBF8F1"/>
                          </a:solidFill>
                          <a:latin typeface="Garamond"/>
                        </a:rPr>
                        <a:t>Budget</a:t>
                      </a:r>
                    </a:p>
                  </a:txBody>
                  <a:tcPr marL="137160" marR="137160" marT="45720" marB="45720" anchor="ctr">
                    <a:solidFill>
                      <a:srgbClr val="9B7FB8"/>
                    </a:solidFill>
                  </a:tcPr>
                </a:tc>
              </a:tr>
              <a:tr h="79187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3A3630"/>
                          </a:solidFill>
                          <a:latin typeface="Garamond"/>
                        </a:rPr>
                        <a:t>Sensibiliser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Sondages et teasing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Portée +50 %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500 €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</a:tr>
              <a:tr h="79187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3A3630"/>
                          </a:solidFill>
                          <a:latin typeface="Garamond"/>
                        </a:rPr>
                        <a:t>Découvrir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Quiz love story et page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2 000 leads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1 200 €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</a:tr>
              <a:tr h="79187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3A3630"/>
                          </a:solidFill>
                          <a:latin typeface="Garamond"/>
                        </a:rPr>
                        <a:t>Donner envie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Reels et écoles d'art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50 k vues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2 000 €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</a:tr>
              <a:tr h="79187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3A3630"/>
                          </a:solidFill>
                          <a:latin typeface="Garamond"/>
                        </a:rPr>
                        <a:t>Vivre la visite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QR codes et capsules audio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1 500 scans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4 000 €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</a:tr>
              <a:tr h="79187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3A3630"/>
                          </a:solidFill>
                          <a:latin typeface="Garamond"/>
                        </a:rPr>
                        <a:t>Amplifier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UGC #AdopteTonRomantique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300 posts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2 000 €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1036294" y="1920240"/>
            <a:ext cx="10119107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36294" y="1389888"/>
            <a:ext cx="10119107" cy="4507992"/>
          </a:xfrm>
          <a:prstGeom prst="rect">
            <a:avLst/>
          </a:prstGeom>
          <a:noFill/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6294" y="6103620"/>
            <a:ext cx="10119107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 i="1">
                <a:solidFill>
                  <a:srgbClr val="3A3630"/>
                </a:solidFill>
                <a:latin typeface="Garamond"/>
              </a:rPr>
              <a:t>Plan d'actions sur 12 mois (BC-5, C5.4).</a:t>
            </a:r>
          </a:p>
        </p:txBody>
      </p:sp>
      <p:sp>
        <p:nvSpPr>
          <p:cNvPr id="18" name="Oval 17"/>
          <p:cNvSpPr/>
          <p:nvPr/>
        </p:nvSpPr>
        <p:spPr>
          <a:xfrm>
            <a:off x="10881081" y="6172200"/>
            <a:ext cx="274320" cy="2743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81081" y="6172200"/>
            <a:ext cx="27432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900" b="1" i="0">
                <a:solidFill>
                  <a:srgbClr val="3A3630"/>
                </a:solidFill>
                <a:latin typeface="Dido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23731" y="274320"/>
            <a:ext cx="1051560" cy="105156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44509" y="926287"/>
            <a:ext cx="868680" cy="86868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23731" y="1464868"/>
            <a:ext cx="713232" cy="71323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844509" y="1907071"/>
            <a:ext cx="566928" cy="566928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23731" y="2258566"/>
            <a:ext cx="438912" cy="43891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44509" y="2530691"/>
            <a:ext cx="329184" cy="32918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23731" y="2734785"/>
            <a:ext cx="237744" cy="23774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01" y="411480"/>
            <a:ext cx="77724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01" y="411480"/>
            <a:ext cx="4114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682954" y="411480"/>
            <a:ext cx="77724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19046" y="411480"/>
            <a:ext cx="4114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01" y="6405372"/>
            <a:ext cx="77724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01" y="5669280"/>
            <a:ext cx="4114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82954" y="6405372"/>
            <a:ext cx="77724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19046" y="5669280"/>
            <a:ext cx="4114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6294" y="1097280"/>
            <a:ext cx="10119107" cy="1920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800" b="1" i="0">
                <a:solidFill>
                  <a:srgbClr val="C9A227"/>
                </a:solidFill>
                <a:latin typeface="Didot"/>
              </a:rPr>
              <a:t>IV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294" y="3429000"/>
            <a:ext cx="10119107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1" i="0" spc="300" cap="small">
                <a:solidFill>
                  <a:srgbClr val="6E93AE"/>
                </a:solidFill>
                <a:latin typeface="Garamond"/>
              </a:rPr>
              <a:t>C5.6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94" y="3771900"/>
            <a:ext cx="10119107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400" b="1" i="0" spc="200" cap="small">
                <a:solidFill>
                  <a:srgbClr val="3A3630"/>
                </a:solidFill>
                <a:latin typeface="Didot"/>
              </a:rPr>
              <a:t>Leviers digitaux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07127" y="4800600"/>
            <a:ext cx="2377440" cy="27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50671" y="5074920"/>
            <a:ext cx="8290352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1">
                <a:solidFill>
                  <a:srgbClr val="3A3630"/>
                </a:solidFill>
                <a:latin typeface="Garamond"/>
              </a:rPr>
              <a:t>Le gratuit d'abord. Le payant, réservé aux beaux jours.</a:t>
            </a:r>
          </a:p>
        </p:txBody>
      </p:sp>
      <p:sp>
        <p:nvSpPr>
          <p:cNvPr id="23" name="Oval 22"/>
          <p:cNvSpPr/>
          <p:nvPr/>
        </p:nvSpPr>
        <p:spPr>
          <a:xfrm>
            <a:off x="10881081" y="6172200"/>
            <a:ext cx="274320" cy="2743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81081" y="6172200"/>
            <a:ext cx="27432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900" b="1" i="0">
                <a:solidFill>
                  <a:srgbClr val="3A3630"/>
                </a:solidFill>
                <a:latin typeface="Didot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92627" y="2057400"/>
            <a:ext cx="1051560" cy="105156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71849" y="2709367"/>
            <a:ext cx="868680" cy="86868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92627" y="3247948"/>
            <a:ext cx="713232" cy="71323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71849" y="3690151"/>
            <a:ext cx="566928" cy="566928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2627" y="4041646"/>
            <a:ext cx="438912" cy="43891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71849" y="4313771"/>
            <a:ext cx="329184" cy="32918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2627" y="4517865"/>
            <a:ext cx="237744" cy="23774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9B7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228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051560"/>
            <a:ext cx="12191695" cy="27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6294" y="0"/>
            <a:ext cx="10119107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3200" b="1" i="0" spc="240" cap="small">
                <a:solidFill>
                  <a:srgbClr val="FBF8F1"/>
                </a:solidFill>
                <a:latin typeface="Didot"/>
              </a:rPr>
              <a:t>Leviers prioritaires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036294" y="1389888"/>
          <a:ext cx="10119106" cy="4507987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29776"/>
                <a:gridCol w="5312531"/>
                <a:gridCol w="227679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BF8F1"/>
                          </a:solidFill>
                          <a:latin typeface="Garamond"/>
                        </a:rPr>
                        <a:t>Famille</a:t>
                      </a:r>
                    </a:p>
                  </a:txBody>
                  <a:tcPr marL="137160" marR="137160" marT="45720" marB="45720" anchor="ctr">
                    <a:solidFill>
                      <a:srgbClr val="9B7F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BF8F1"/>
                          </a:solidFill>
                          <a:latin typeface="Garamond"/>
                        </a:rPr>
                        <a:t>Levier</a:t>
                      </a:r>
                    </a:p>
                  </a:txBody>
                  <a:tcPr marL="137160" marR="137160" marT="45720" marB="45720" anchor="ctr">
                    <a:solidFill>
                      <a:srgbClr val="9B7F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BF8F1"/>
                          </a:solidFill>
                          <a:latin typeface="Garamond"/>
                        </a:rPr>
                        <a:t>Priorité</a:t>
                      </a:r>
                    </a:p>
                  </a:txBody>
                  <a:tcPr marL="137160" marR="137160" marT="45720" marB="45720" anchor="ctr">
                    <a:solidFill>
                      <a:srgbClr val="9B7FB8"/>
                    </a:solidFill>
                  </a:tcPr>
                </a:tc>
              </a:tr>
              <a:tr h="565621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3A3630"/>
                          </a:solidFill>
                          <a:latin typeface="Garamond"/>
                        </a:rPr>
                        <a:t>Utilisateurs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Micro-influence culture / Paris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Haute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</a:tr>
              <a:tr h="565621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3A3630"/>
                          </a:solidFill>
                          <a:latin typeface="Garamond"/>
                        </a:rPr>
                        <a:t>Utilisateurs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Avis Google / TripAdvisor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Haute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</a:tr>
              <a:tr h="565621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3A3630"/>
                          </a:solidFill>
                          <a:latin typeface="Garamond"/>
                        </a:rPr>
                        <a:t>Utilisateurs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UGC #AdopteTonRomantique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Haute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</a:tr>
              <a:tr h="565621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3A3630"/>
                          </a:solidFill>
                          <a:latin typeface="Garamond"/>
                        </a:rPr>
                        <a:t>Marque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SEO (refonte)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Haute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</a:tr>
              <a:tr h="565621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3A3630"/>
                          </a:solidFill>
                          <a:latin typeface="Garamond"/>
                        </a:rPr>
                        <a:t>Marque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SMO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Haute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</a:tr>
              <a:tr h="565621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3A3630"/>
                          </a:solidFill>
                          <a:latin typeface="Garamond"/>
                        </a:rPr>
                        <a:t>Payants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SEA (Google Ads)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Moyenne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</a:tr>
              <a:tr h="565621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3A3630"/>
                          </a:solidFill>
                          <a:latin typeface="Garamond"/>
                        </a:rPr>
                        <a:t>Payants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Display / retargeting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Basse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1036294" y="1920240"/>
            <a:ext cx="10119107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36294" y="1389888"/>
            <a:ext cx="10119107" cy="4507992"/>
          </a:xfrm>
          <a:prstGeom prst="rect">
            <a:avLst/>
          </a:prstGeom>
          <a:noFill/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6294" y="6103620"/>
            <a:ext cx="10119107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 i="1">
                <a:solidFill>
                  <a:srgbClr val="3A3630"/>
                </a:solidFill>
                <a:latin typeface="Garamond"/>
              </a:rPr>
              <a:t>Analyse des leviers digitaux (BC-5, C5.6).</a:t>
            </a:r>
          </a:p>
        </p:txBody>
      </p:sp>
      <p:sp>
        <p:nvSpPr>
          <p:cNvPr id="18" name="Oval 17"/>
          <p:cNvSpPr/>
          <p:nvPr/>
        </p:nvSpPr>
        <p:spPr>
          <a:xfrm>
            <a:off x="10881081" y="6172200"/>
            <a:ext cx="274320" cy="2743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81081" y="6172200"/>
            <a:ext cx="27432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900" b="1" i="0">
                <a:solidFill>
                  <a:srgbClr val="3A3630"/>
                </a:solidFill>
                <a:latin typeface="Didot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92627" y="2057400"/>
            <a:ext cx="1051560" cy="105156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71849" y="2709367"/>
            <a:ext cx="868680" cy="86868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92627" y="3247948"/>
            <a:ext cx="713232" cy="71323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71849" y="3690151"/>
            <a:ext cx="566928" cy="566928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2627" y="4041646"/>
            <a:ext cx="438912" cy="43891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71849" y="4313771"/>
            <a:ext cx="329184" cy="32918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2627" y="4517865"/>
            <a:ext cx="237744" cy="23774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9B7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228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051560"/>
            <a:ext cx="12191695" cy="27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6294" y="0"/>
            <a:ext cx="10119107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3200" b="1" i="0" spc="240" cap="small">
                <a:solidFill>
                  <a:srgbClr val="FBF8F1"/>
                </a:solidFill>
                <a:latin typeface="Didot"/>
              </a:rPr>
              <a:t>Arbitrage organique / payant</a:t>
            </a:r>
          </a:p>
        </p:txBody>
      </p:sp>
      <p:sp>
        <p:nvSpPr>
          <p:cNvPr id="14" name="Oval 13"/>
          <p:cNvSpPr/>
          <p:nvPr/>
        </p:nvSpPr>
        <p:spPr>
          <a:xfrm>
            <a:off x="1036294" y="1982236"/>
            <a:ext cx="128016" cy="12801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774" y="1481328"/>
            <a:ext cx="9707627" cy="15179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3A3630"/>
                </a:solidFill>
                <a:latin typeface="Garamond"/>
              </a:rPr>
              <a:t>Payant : environ 4 000 €, moins d'un cinquième du budget.</a:t>
            </a:r>
          </a:p>
        </p:txBody>
      </p:sp>
      <p:sp>
        <p:nvSpPr>
          <p:cNvPr id="16" name="Oval 15"/>
          <p:cNvSpPr/>
          <p:nvPr/>
        </p:nvSpPr>
        <p:spPr>
          <a:xfrm>
            <a:off x="1036294" y="3500140"/>
            <a:ext cx="128016" cy="12801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7774" y="2999232"/>
            <a:ext cx="9707627" cy="15179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3A3630"/>
                </a:solidFill>
                <a:latin typeface="Garamond"/>
              </a:rPr>
              <a:t>Organique : 70 à 80 % de l'effort (SEO, SMO, UGC, micro-influence).</a:t>
            </a:r>
          </a:p>
        </p:txBody>
      </p:sp>
      <p:sp>
        <p:nvSpPr>
          <p:cNvPr id="18" name="Oval 17"/>
          <p:cNvSpPr/>
          <p:nvPr/>
        </p:nvSpPr>
        <p:spPr>
          <a:xfrm>
            <a:off x="1036294" y="5018044"/>
            <a:ext cx="128016" cy="12801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7774" y="4517136"/>
            <a:ext cx="9707627" cy="15179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3A3630"/>
                </a:solidFill>
                <a:latin typeface="Garamond"/>
              </a:rPr>
              <a:t>Payant réservé aux temps forts (Saint-Valentin, lancement).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94" y="6103620"/>
            <a:ext cx="10119107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 i="1">
                <a:solidFill>
                  <a:srgbClr val="3A3630"/>
                </a:solidFill>
                <a:latin typeface="Garamond"/>
              </a:rPr>
              <a:t>Arbitrage dérivé du budget 21 500 € (BC-5, C5.6).</a:t>
            </a:r>
          </a:p>
        </p:txBody>
      </p:sp>
      <p:sp>
        <p:nvSpPr>
          <p:cNvPr id="21" name="Oval 20"/>
          <p:cNvSpPr/>
          <p:nvPr/>
        </p:nvSpPr>
        <p:spPr>
          <a:xfrm>
            <a:off x="10881081" y="6172200"/>
            <a:ext cx="274320" cy="2743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81081" y="6172200"/>
            <a:ext cx="27432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900" b="1" i="0">
                <a:solidFill>
                  <a:srgbClr val="3A3630"/>
                </a:solidFill>
                <a:latin typeface="Didot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23731" y="274320"/>
            <a:ext cx="1051560" cy="105156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44509" y="926287"/>
            <a:ext cx="868680" cy="86868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23731" y="1464868"/>
            <a:ext cx="713232" cy="71323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844509" y="1907071"/>
            <a:ext cx="566928" cy="566928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23731" y="2258566"/>
            <a:ext cx="438912" cy="43891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44509" y="2530691"/>
            <a:ext cx="329184" cy="32918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23731" y="2734785"/>
            <a:ext cx="237744" cy="23774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01" y="411480"/>
            <a:ext cx="77724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01" y="411480"/>
            <a:ext cx="4114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682954" y="411480"/>
            <a:ext cx="77724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19046" y="411480"/>
            <a:ext cx="4114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01" y="6405372"/>
            <a:ext cx="77724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01" y="5669280"/>
            <a:ext cx="4114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82954" y="6405372"/>
            <a:ext cx="77724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19046" y="5669280"/>
            <a:ext cx="4114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6294" y="1097280"/>
            <a:ext cx="10119107" cy="1920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800" b="1" i="0">
                <a:solidFill>
                  <a:srgbClr val="C9A227"/>
                </a:solidFill>
                <a:latin typeface="Didot"/>
              </a:rPr>
              <a:t>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294" y="3429000"/>
            <a:ext cx="10119107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1" i="0" spc="300" cap="small">
                <a:solidFill>
                  <a:srgbClr val="6E93AE"/>
                </a:solidFill>
                <a:latin typeface="Garamond"/>
              </a:rPr>
              <a:t>C5.8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94" y="3771900"/>
            <a:ext cx="10119107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400" b="1" i="0" spc="200" cap="small">
                <a:solidFill>
                  <a:srgbClr val="3A3630"/>
                </a:solidFill>
                <a:latin typeface="Didot"/>
              </a:rPr>
              <a:t>Campagne e-mailing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07127" y="4800600"/>
            <a:ext cx="2377440" cy="27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50671" y="5074920"/>
            <a:ext cx="8290352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1">
                <a:solidFill>
                  <a:srgbClr val="3A3630"/>
                </a:solidFill>
                <a:latin typeface="Garamond"/>
              </a:rPr>
              <a:t>Le seul canal que le musée possède vraiment.</a:t>
            </a:r>
          </a:p>
        </p:txBody>
      </p:sp>
      <p:sp>
        <p:nvSpPr>
          <p:cNvPr id="23" name="Oval 22"/>
          <p:cNvSpPr/>
          <p:nvPr/>
        </p:nvSpPr>
        <p:spPr>
          <a:xfrm>
            <a:off x="10881081" y="6172200"/>
            <a:ext cx="274320" cy="2743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81081" y="6172200"/>
            <a:ext cx="27432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900" b="1" i="0">
                <a:solidFill>
                  <a:srgbClr val="3A3630"/>
                </a:solidFill>
                <a:latin typeface="Didot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92627" y="2057400"/>
            <a:ext cx="1051560" cy="105156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71849" y="2709367"/>
            <a:ext cx="868680" cy="86868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92627" y="3247948"/>
            <a:ext cx="713232" cy="71323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71849" y="3690151"/>
            <a:ext cx="566928" cy="566928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2627" y="4041646"/>
            <a:ext cx="438912" cy="43891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71849" y="4313771"/>
            <a:ext cx="329184" cy="32918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2627" y="4517865"/>
            <a:ext cx="237744" cy="23774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9B7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228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051560"/>
            <a:ext cx="12191695" cy="27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6294" y="0"/>
            <a:ext cx="10119107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3200" b="1" i="0" spc="240" cap="small">
                <a:solidFill>
                  <a:srgbClr val="FBF8F1"/>
                </a:solidFill>
                <a:latin typeface="Didot"/>
              </a:rPr>
              <a:t>Objectifs de délivrabilité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036294" y="1389888"/>
          <a:ext cx="10119105" cy="450799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464311"/>
                <a:gridCol w="2380966"/>
                <a:gridCol w="327382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BF8F1"/>
                          </a:solidFill>
                          <a:latin typeface="Garamond"/>
                        </a:rPr>
                        <a:t>Indicateur</a:t>
                      </a:r>
                    </a:p>
                  </a:txBody>
                  <a:tcPr marL="137160" marR="137160" marT="45720" marB="45720" anchor="ctr">
                    <a:solidFill>
                      <a:srgbClr val="9B7F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 i="0">
                          <a:solidFill>
                            <a:srgbClr val="FBF8F1"/>
                          </a:solidFill>
                          <a:latin typeface="Garamond"/>
                        </a:rPr>
                        <a:t>Cible</a:t>
                      </a:r>
                    </a:p>
                  </a:txBody>
                  <a:tcPr marL="137160" marR="137160" marT="45720" marB="45720" anchor="ctr">
                    <a:solidFill>
                      <a:srgbClr val="9B7F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BF8F1"/>
                          </a:solidFill>
                          <a:latin typeface="Garamond"/>
                        </a:rPr>
                        <a:t>Source</a:t>
                      </a:r>
                    </a:p>
                  </a:txBody>
                  <a:tcPr marL="137160" marR="137160" marT="45720" marB="45720" anchor="ctr">
                    <a:solidFill>
                      <a:srgbClr val="9B7FB8"/>
                    </a:solidFill>
                  </a:tcPr>
                </a:tc>
              </a:tr>
              <a:tr h="79187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3A3630"/>
                          </a:solidFill>
                          <a:latin typeface="Garamond"/>
                        </a:rPr>
                        <a:t>Taux d'ouverture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≥ 40 %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Brevo 2025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</a:tr>
              <a:tr h="79187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3A3630"/>
                          </a:solidFill>
                          <a:latin typeface="Garamond"/>
                        </a:rPr>
                        <a:t>Réactivité (CTOR)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≥ 12 %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Brevo 2025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</a:tr>
              <a:tr h="79187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3A3630"/>
                          </a:solidFill>
                          <a:latin typeface="Garamond"/>
                        </a:rPr>
                        <a:t>Taux de clic (CTR)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≥ 4 %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Brevo 2025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</a:tr>
              <a:tr h="79187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3A3630"/>
                          </a:solidFill>
                          <a:latin typeface="Garamond"/>
                        </a:rPr>
                        <a:t>Taux de désabonnement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&lt; 0,5 %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bonne pratique</a:t>
                      </a:r>
                    </a:p>
                  </a:txBody>
                  <a:tcPr marL="137160" marR="137160" marT="45720" marB="45720" anchor="ctr">
                    <a:solidFill>
                      <a:srgbClr val="FBF8F1"/>
                    </a:solidFill>
                  </a:tcPr>
                </a:tc>
              </a:tr>
              <a:tr h="79187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3A3630"/>
                          </a:solidFill>
                          <a:latin typeface="Garamond"/>
                        </a:rPr>
                        <a:t>Contacts opt-in / RGPD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100 %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A3630"/>
                          </a:solidFill>
                          <a:latin typeface="Garamond"/>
                        </a:rPr>
                        <a:t>double opt-in, UE</a:t>
                      </a:r>
                    </a:p>
                  </a:txBody>
                  <a:tcPr marL="137160" marR="137160" marT="45720" marB="45720" anchor="ctr">
                    <a:solidFill>
                      <a:srgbClr val="F5EFE2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1036294" y="1920240"/>
            <a:ext cx="10119107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36294" y="1389888"/>
            <a:ext cx="10119107" cy="4507992"/>
          </a:xfrm>
          <a:prstGeom prst="rect">
            <a:avLst/>
          </a:prstGeom>
          <a:noFill/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6294" y="6103620"/>
            <a:ext cx="10119107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 i="1">
                <a:solidFill>
                  <a:srgbClr val="3A3630"/>
                </a:solidFill>
                <a:latin typeface="Garamond"/>
              </a:rPr>
              <a:t>Objectifs et délivrabilité, cibles sourcées (BC-5, C5.8).</a:t>
            </a:r>
          </a:p>
        </p:txBody>
      </p:sp>
      <p:sp>
        <p:nvSpPr>
          <p:cNvPr id="18" name="Oval 17"/>
          <p:cNvSpPr/>
          <p:nvPr/>
        </p:nvSpPr>
        <p:spPr>
          <a:xfrm>
            <a:off x="10881081" y="6172200"/>
            <a:ext cx="274320" cy="2743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81081" y="6172200"/>
            <a:ext cx="27432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900" b="1" i="0">
                <a:solidFill>
                  <a:srgbClr val="3A3630"/>
                </a:solidFill>
                <a:latin typeface="Didot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23731" y="274320"/>
            <a:ext cx="1051560" cy="105156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44509" y="926287"/>
            <a:ext cx="868680" cy="86868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23731" y="1464868"/>
            <a:ext cx="713232" cy="71323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844509" y="1907071"/>
            <a:ext cx="566928" cy="566928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23731" y="2258566"/>
            <a:ext cx="438912" cy="43891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44509" y="2530691"/>
            <a:ext cx="329184" cy="32918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23731" y="2734785"/>
            <a:ext cx="237744" cy="23774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9169" y="960120"/>
            <a:ext cx="182880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0" b="1" i="0">
                <a:solidFill>
                  <a:srgbClr val="C9A227"/>
                </a:solidFill>
                <a:latin typeface="Didot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50671" y="2331720"/>
            <a:ext cx="8290352" cy="1645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30000"/>
              </a:lnSpc>
            </a:pPr>
            <a:r>
              <a:rPr sz="2700" b="0" i="1">
                <a:solidFill>
                  <a:srgbClr val="3A3630"/>
                </a:solidFill>
                <a:latin typeface="Didot"/>
              </a:rPr>
              <a:t>Un musée qui murmure peut se faire entendre, s'il choisit bien ses mots.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90007" y="4251960"/>
            <a:ext cx="2011680" cy="27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6294" y="4457700"/>
            <a:ext cx="10119107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1" i="0" spc="260" cap="small">
                <a:solidFill>
                  <a:srgbClr val="3A3630"/>
                </a:solidFill>
                <a:latin typeface="Garamond"/>
              </a:rPr>
              <a:t>Lady Whistledown</a:t>
            </a:r>
          </a:p>
        </p:txBody>
      </p:sp>
      <p:sp>
        <p:nvSpPr>
          <p:cNvPr id="14" name="Oval 13"/>
          <p:cNvSpPr/>
          <p:nvPr/>
        </p:nvSpPr>
        <p:spPr>
          <a:xfrm>
            <a:off x="5730087" y="5006340"/>
            <a:ext cx="731520" cy="731520"/>
          </a:xfrm>
          <a:prstGeom prst="ellipse">
            <a:avLst/>
          </a:prstGeom>
          <a:solidFill>
            <a:srgbClr val="7A1F2B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30087" y="5006340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000" b="1" i="0">
                <a:solidFill>
                  <a:srgbClr val="F5EFE2"/>
                </a:solidFill>
                <a:latin typeface="Didot"/>
              </a:rPr>
              <a:t>LW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294" y="6172200"/>
            <a:ext cx="10119107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3A3630"/>
                </a:solidFill>
                <a:latin typeface="Garamond"/>
              </a:rPr>
              <a:t>Fil rouge narratif du dossier.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23731" y="274320"/>
            <a:ext cx="1051560" cy="105156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44509" y="926287"/>
            <a:ext cx="868680" cy="86868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23731" y="1464868"/>
            <a:ext cx="713232" cy="71323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844509" y="1907071"/>
            <a:ext cx="566928" cy="566928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23731" y="2258566"/>
            <a:ext cx="438912" cy="43891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44509" y="2530691"/>
            <a:ext cx="329184" cy="32918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23731" y="2734785"/>
            <a:ext cx="237744" cy="23774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92627" y="2057400"/>
            <a:ext cx="1051560" cy="105156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71849" y="2709367"/>
            <a:ext cx="868680" cy="868680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2627" y="3247948"/>
            <a:ext cx="713232" cy="71323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71849" y="3690151"/>
            <a:ext cx="566928" cy="566928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92627" y="4041646"/>
            <a:ext cx="438912" cy="438912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1849" y="4313771"/>
            <a:ext cx="329184" cy="32918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92627" y="4517865"/>
            <a:ext cx="237744" cy="237744"/>
          </a:xfrm>
          <a:prstGeom prst="ellipse">
            <a:avLst/>
          </a:prstGeom>
          <a:solidFill>
            <a:srgbClr val="9B7FB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584" y="342900"/>
            <a:ext cx="10972527" cy="6172200"/>
          </a:xfrm>
          <a:prstGeom prst="rect">
            <a:avLst/>
          </a:prstGeom>
          <a:noFill/>
          <a:ln w="2032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4448" y="397764"/>
            <a:ext cx="10862799" cy="6062472"/>
          </a:xfrm>
          <a:prstGeom prst="rect">
            <a:avLst/>
          </a:prstGeom>
          <a:noFill/>
          <a:ln w="952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06837" y="1508760"/>
            <a:ext cx="8778020" cy="1463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 i="0">
                <a:solidFill>
                  <a:srgbClr val="3A3630"/>
                </a:solidFill>
                <a:latin typeface="Didot"/>
              </a:rPr>
              <a:t>Love Stories IRL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7127" y="3017520"/>
            <a:ext cx="2377440" cy="27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6294" y="3223260"/>
            <a:ext cx="10119107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600" b="0" i="0">
                <a:solidFill>
                  <a:srgbClr val="3A3630"/>
                </a:solidFill>
                <a:latin typeface="Garamond"/>
              </a:rPr>
              <a:t>Réouverture février 2026 · @museevieromantique · #AdopteTonRomantique</a:t>
            </a:r>
          </a:p>
        </p:txBody>
      </p:sp>
      <p:sp>
        <p:nvSpPr>
          <p:cNvPr id="22" name="Oval 21"/>
          <p:cNvSpPr/>
          <p:nvPr/>
        </p:nvSpPr>
        <p:spPr>
          <a:xfrm>
            <a:off x="5410047" y="3840480"/>
            <a:ext cx="1371600" cy="1371600"/>
          </a:xfrm>
          <a:prstGeom prst="ellipse">
            <a:avLst/>
          </a:prstGeom>
          <a:solidFill>
            <a:srgbClr val="7A1F2B">
              <a:alpha val="88000"/>
            </a:srgbClr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0047" y="3840480"/>
            <a:ext cx="1371600" cy="1371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900" b="1" i="0">
                <a:solidFill>
                  <a:srgbClr val="F5EFE2"/>
                </a:solidFill>
                <a:latin typeface="Didot"/>
              </a:rPr>
              <a:t>LW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6294" y="5486400"/>
            <a:ext cx="10119107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700" b="0" i="1">
                <a:solidFill>
                  <a:srgbClr val="3A3630"/>
                </a:solidFill>
                <a:latin typeface="Didot"/>
              </a:rPr>
              <a:t>Bien à vous, Lady Whistledown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